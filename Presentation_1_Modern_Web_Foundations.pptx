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59E0B"/>
                </a:solidFill>
              </a:defRPr>
            </a:pPr>
            <a:r>
              <a:t>1-MONTH WEB DEVELOPMENT TRAINING</a:t>
            </a:r>
          </a:p>
          <a:p>
            <a:pPr>
              <a:spcAft>
                <a:spcPts val="1500"/>
              </a:spcAft>
              <a:defRPr sz="3600" b="1">
                <a:solidFill>
                  <a:srgbClr val="F8FAFC"/>
                </a:solidFill>
              </a:defRPr>
            </a:pPr>
            <a:r>
              <a:t>Modern Web Foundations, Advanced JS &amp; Node.js</a:t>
            </a:r>
          </a:p>
          <a:p>
            <a:pPr>
              <a:spcAft>
                <a:spcPts val="3500"/>
              </a:spcAft>
              <a:defRPr sz="1600">
                <a:solidFill>
                  <a:srgbClr val="94A3B8"/>
                </a:solidFill>
              </a:defRPr>
            </a:pPr>
            <a:r>
              <a:t>Presentation #1 • Comprehensive Week 1 Architecture &amp; Live Code Walkthrough</a:t>
            </a:r>
          </a:p>
          <a:p>
            <a:pPr>
              <a:defRPr sz="1400" b="1">
                <a:solidFill>
                  <a:srgbClr val="6366F1"/>
                </a:solidFill>
              </a:defRPr>
            </a:pPr>
            <a:r>
              <a:t>Presenter: Full-Stack Engineering Trainee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28600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WEEK 1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1. Modern Web Design &amp; Layout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59E0B"/>
                </a:solidFill>
              </a:defRPr>
            </a:pPr>
            <a:r>
              <a:t>Semantic HTML5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Replaces &lt;div&gt; soup with meaningful tags (&lt;main&gt;, &lt;header&gt;, &lt;nav&gt;, &lt;footer&gt;).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Maximizes Search Engine Optimization (SEO) indexing.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Ensures web accessibility (a11y) for screen readers.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6366F1"/>
                </a:solidFill>
              </a:defRPr>
            </a:pPr>
            <a:r>
              <a:t>Flexbox vs. Grid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Flexbox (1D): Single-axis alignment for navbars, row stacks, and centering.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CSS Grid (2D): Multi-column layouts for dashboard card grids.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Responsive media queries for mobile-first layouts.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41345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0B981"/>
                </a:solidFill>
              </a:defRPr>
            </a:pPr>
            <a:r>
              <a:t>Tailwind CSS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Utility-first CSS framework for rapid UI development.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Standardized design tokens (padding, spacing, HSL color palettes).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Zero custom CSS overhead with reusable atomic classes.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28600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WEEK 1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2. Professional Git &amp; GitHub Team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6366F1"/>
                </a:solidFill>
              </a:defRPr>
            </a:pPr>
            <a:r>
              <a:t>Feature-Branching Strategy</a:t>
            </a:r>
          </a:p>
          <a:p>
            <a:pPr>
              <a:spcAft>
                <a:spcPts val="1200"/>
              </a:spcAft>
              <a:defRPr sz="1400">
                <a:solidFill>
                  <a:srgbClr val="94A3B8"/>
                </a:solidFill>
              </a:defRPr>
            </a:pPr>
            <a:r>
              <a:t>✔ Production Protection: The 'main' branch remains locked and stable.</a:t>
            </a:r>
          </a:p>
          <a:p>
            <a:pPr>
              <a:spcAft>
                <a:spcPts val="1200"/>
              </a:spcAft>
              <a:defRPr sz="1400">
                <a:solidFill>
                  <a:srgbClr val="94A3B8"/>
                </a:solidFill>
              </a:defRPr>
            </a:pPr>
            <a:r>
              <a:t>✔ Isolated Development: Create feature branches via git checkout -b feature/task-name.</a:t>
            </a:r>
          </a:p>
          <a:p>
            <a:pPr>
              <a:spcAft>
                <a:spcPts val="1200"/>
              </a:spcAft>
              <a:defRPr sz="1400">
                <a:solidFill>
                  <a:srgbClr val="94A3B8"/>
                </a:solidFill>
              </a:defRPr>
            </a:pPr>
            <a:r>
              <a:t>✔ Prevents merge conflicts across engineering teams.</a:t>
            </a:r>
          </a:p>
          <a:p>
            <a:pPr>
              <a:spcAft>
                <a:spcPts val="1200"/>
              </a:spcAft>
              <a:defRPr sz="1400">
                <a:solidFill>
                  <a:srgbClr val="94A3B8"/>
                </a:solidFill>
              </a:defRPr>
            </a:pPr>
            <a:r>
              <a:t>✔ Enforces Pull Request (PR) code reviews before merging.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59E0B"/>
                </a:solidFill>
              </a:defRPr>
            </a:pPr>
            <a:r>
              <a:t>Conventional Commit Standards</a:t>
            </a:r>
          </a:p>
          <a:p>
            <a:pPr>
              <a:spcAft>
                <a:spcPts val="1200"/>
              </a:spcAft>
              <a:defRPr sz="1400">
                <a:solidFill>
                  <a:srgbClr val="94A3B8"/>
                </a:solidFill>
              </a:defRPr>
            </a:pPr>
            <a:r>
              <a:t>📌 feat: Adding new functional features (e.g. feat: add bookmarking).</a:t>
            </a:r>
          </a:p>
          <a:p>
            <a:pPr>
              <a:spcAft>
                <a:spcPts val="1200"/>
              </a:spcAft>
              <a:defRPr sz="1400">
                <a:solidFill>
                  <a:srgbClr val="94A3B8"/>
                </a:solidFill>
              </a:defRPr>
            </a:pPr>
            <a:r>
              <a:t>📌 fix: Patching software bugs (e.g. fix: resolve flexbox alignment).</a:t>
            </a:r>
          </a:p>
          <a:p>
            <a:pPr>
              <a:spcAft>
                <a:spcPts val="1200"/>
              </a:spcAft>
              <a:defRPr sz="1400">
                <a:solidFill>
                  <a:srgbClr val="94A3B8"/>
                </a:solidFill>
              </a:defRPr>
            </a:pPr>
            <a:r>
              <a:t>📌 docs: Updating documentation and README study guides.</a:t>
            </a:r>
          </a:p>
          <a:p>
            <a:pPr>
              <a:spcAft>
                <a:spcPts val="1200"/>
              </a:spcAft>
              <a:defRPr sz="1400">
                <a:solidFill>
                  <a:srgbClr val="94A3B8"/>
                </a:solidFill>
              </a:defRPr>
            </a:pPr>
            <a:r>
              <a:t>📌 style: Formatting or CSS design adjustments without logic changes.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28600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WEEK 1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3. Advanced JavaScript &amp; Asynchronous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59E0B"/>
                </a:solidFill>
              </a:defRPr>
            </a:pPr>
            <a:r>
              <a:t>ES6+ Data Transformations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Block Scope: const for immutable bindings, let for mutable variables.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Arrow Functions: Clean syntax with implicit return capability.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.map(): Transforms elements into a new array of equal length.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.filter(): Extracts elements matching boolean predicates.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.reduce(): Accumulates array values into single analytical totals.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6366F1"/>
                </a:solidFill>
              </a:defRPr>
            </a:pPr>
            <a:r>
              <a:t>Event Loop &amp; Promises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⚡ Single-Threaded Event Loop: Handles non-blocking execution via Call Stack and Microtask Queue.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⚡ Microtask Priority: Promises execute immediately after Call Stack clears.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⚡ async / await: Clean, readable asynchronous control flow syntax.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⚡ try / catch: Error boundaries preventing unhandled promise rejections.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28600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WEEK 1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4. DOM Event Architecture &amp; Node.js 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0B981"/>
                </a:solidFill>
              </a:defRPr>
            </a:pPr>
            <a:r>
              <a:t>DOM &amp; LocalStorage API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🎯 Event Delegation: Single listener on parent container using event.target.closest().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🎯 Memory Optimization: Eliminates hundreds of individual DOM event handlers.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🎯 LocalStorage API: Client-side state persistence (JSON.stringify / JSON.parse).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🎯 UI State Feedback: Loading spinners, Error cards, and Toast notifications.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6366F1"/>
                </a:solidFill>
              </a:defRPr>
            </a:pPr>
            <a:r>
              <a:t>Node.js Core &amp; File System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🟢 V8 Execution Engine: Running JavaScript on backend servers outside the browser.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🟢 fs/promises Module: Non-blocking asynchronous file operations (readFile, writeFile).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🟢 Global Context: process.env for configuration and __dirname for path resolution.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🟢 HTTP Server Basics: Built-in http module for RESTful response handling.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28600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PROJECT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5. Live Code Demo — DevExplorer PRO v2.0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F8FAFC"/>
                </a:solidFill>
              </a:defRPr>
            </a:pPr>
            <a:r>
              <a:t>Live Demonstration: GitHub Explorer &amp; Bookmark Manager</a:t>
            </a:r>
          </a:p>
          <a:p>
            <a:pPr>
              <a:spcAft>
                <a:spcPts val="1200"/>
              </a:spcAft>
              <a:defRPr sz="1500">
                <a:solidFill>
                  <a:srgbClr val="94A3B8"/>
                </a:solidFill>
              </a:defRPr>
            </a:pPr>
            <a:r>
              <a:t>🚀 Parallel API Requests: Fetching user profiles and repositories concurrently via Promise.all().</a:t>
            </a:r>
          </a:p>
          <a:p>
            <a:pPr>
              <a:spcAft>
                <a:spcPts val="1200"/>
              </a:spcAft>
              <a:defRPr sz="1500">
                <a:solidFill>
                  <a:srgbClr val="94A3B8"/>
                </a:solidFill>
              </a:defRPr>
            </a:pPr>
            <a:r>
              <a:t>🚀 Event Delegation: Single container listener handling quick developer tags and bookmarking.</a:t>
            </a:r>
          </a:p>
          <a:p>
            <a:pPr>
              <a:spcAft>
                <a:spcPts val="1200"/>
              </a:spcAft>
              <a:defRPr sz="1500">
                <a:solidFill>
                  <a:srgbClr val="94A3B8"/>
                </a:solidFill>
              </a:defRPr>
            </a:pPr>
            <a:r>
              <a:t>🚀 Analytics Engine: Live computation of Total Stars, Forks, and Top Language via .reduce().</a:t>
            </a:r>
          </a:p>
          <a:p>
            <a:pPr>
              <a:spcAft>
                <a:spcPts val="1200"/>
              </a:spcAft>
              <a:defRPr sz="1500">
                <a:solidFill>
                  <a:srgbClr val="94A3B8"/>
                </a:solidFill>
              </a:defRPr>
            </a:pPr>
            <a:r>
              <a:t>🚀 LocalStorage Persistence: Saving favorite developer profiles across page reloads.</a:t>
            </a:r>
          </a:p>
          <a:p>
            <a:pPr>
              <a:spcAft>
                <a:spcPts val="1200"/>
              </a:spcAft>
              <a:defRPr sz="1500">
                <a:solidFill>
                  <a:srgbClr val="94A3B8"/>
                </a:solidFill>
              </a:defRPr>
            </a:pPr>
            <a:r>
              <a:t>🚀 GitHub Repository: https://github.com/wasi-747/1-month-training-resources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