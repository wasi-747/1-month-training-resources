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188720"/>
            <a:ext cx="9601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F59E0B"/>
                </a:solidFill>
              </a:defRPr>
            </a:pPr>
            <a:r>
              <a:t>1-MONTH WEB DEVELOPMENT TRAINING • PRESENTATION #1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</a:defRPr>
            </a:pPr>
            <a:r>
              <a:t>Modern Web Foundations &amp;</a:t>
            </a:r>
            <a:br/>
            <a:r>
              <a:t>Advanced JavaScript Architecture</a:t>
            </a:r>
          </a:p>
          <a:p>
            <a:pPr>
              <a:spcAft>
                <a:spcPts val="2800"/>
              </a:spcAft>
              <a:defRPr sz="1500">
                <a:solidFill>
                  <a:srgbClr val="A1A1AA"/>
                </a:solidFill>
              </a:defRPr>
            </a:pPr>
            <a:r>
              <a:t>Full Architecture Breakdown: Semantic Layouts, Professional Git Workflows, Asynchronous Event Loop, DOM Event Delegation &amp; Node.js Core.</a:t>
            </a:r>
          </a:p>
          <a:p>
            <a:pPr>
              <a:spcAft>
                <a:spcPts val="800"/>
              </a:spcAft>
              <a:defRPr sz="1500" b="1">
                <a:solidFill>
                  <a:srgbClr val="FCD34D"/>
                </a:solidFill>
              </a:defRPr>
            </a:pPr>
            <a:r>
              <a:t>🚀 FEATURED LIVE DEMO: DevExplorer PRO v2.0 (GitHub Analytics &amp; Bookmark Manager)</a:t>
            </a:r>
          </a:p>
          <a:p>
            <a:pPr>
              <a:defRPr sz="1300">
                <a:solidFill>
                  <a:srgbClr val="A1A1AA"/>
                </a:solidFill>
              </a:defRPr>
            </a:pPr>
            <a:r>
              <a:t>Presenter: Full-Stack Engineering Trainee  |  Date: August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WEEK 1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Technical Curriculum &amp; Milestone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560320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22860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59E0B"/>
                </a:solidFill>
              </a:defRPr>
            </a:pPr>
            <a:r>
              <a:t>DAY 01</a:t>
            </a:r>
          </a:p>
          <a:p>
            <a:pPr>
              <a:spcAft>
                <a:spcPts val="1600"/>
              </a:spcAft>
              <a:defRPr sz="1500" b="1">
                <a:solidFill>
                  <a:srgbClr val="FFFFFF"/>
                </a:solidFill>
              </a:defRPr>
            </a:pPr>
            <a:r>
              <a:t>Web Design &amp; Git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HTML5 Semantics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Replaced &lt;div&gt; soup with &lt;main&gt;, &lt;nav&gt;, &lt;header&gt; for SEO &amp; a11y.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Flexbox &amp; CSS Grid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1D component alignment vs 2D responsive grid matrices.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Professional Git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Feature-branching (git checkout -b) &amp; Conventional Commits.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554480"/>
            <a:ext cx="2560320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691640"/>
            <a:ext cx="22860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59E0B"/>
                </a:solidFill>
              </a:defRPr>
            </a:pPr>
            <a:r>
              <a:t>DAY 02</a:t>
            </a:r>
          </a:p>
          <a:p>
            <a:pPr>
              <a:spcAft>
                <a:spcPts val="1600"/>
              </a:spcAft>
              <a:defRPr sz="1500" b="1">
                <a:solidFill>
                  <a:srgbClr val="FFFFFF"/>
                </a:solidFill>
              </a:defRPr>
            </a:pPr>
            <a:r>
              <a:t>Advanced JS &amp; Async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ES6+ Architecture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Block scope (const/let), destructuring, and spread operator.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Array Pipelines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.map(), .filter(), and .reduce() 1-pass analytical totals.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Event Loop Engine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Call Stack execution, Microtask Queue vs Macrotasks.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554480"/>
            <a:ext cx="2560320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691640"/>
            <a:ext cx="22860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59E0B"/>
                </a:solidFill>
              </a:defRPr>
            </a:pPr>
            <a:r>
              <a:t>DAY 03</a:t>
            </a:r>
          </a:p>
          <a:p>
            <a:pPr>
              <a:spcAft>
                <a:spcPts val="1600"/>
              </a:spcAft>
              <a:defRPr sz="1500" b="1">
                <a:solidFill>
                  <a:srgbClr val="FFFFFF"/>
                </a:solidFill>
              </a:defRPr>
            </a:pPr>
            <a:r>
              <a:t>DOM &amp; Mini-Project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Event Delegation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Single parent listener handles dynamic items via closest().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LocalStorage Sync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Client state persistence using JSON serialization.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DevExplorer PRO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Parallel API fetching via Promise.all() + live analytics.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554480"/>
            <a:ext cx="2560320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1691640"/>
            <a:ext cx="22860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59E0B"/>
                </a:solidFill>
              </a:defRPr>
            </a:pPr>
            <a:r>
              <a:t>DAY 04</a:t>
            </a:r>
          </a:p>
          <a:p>
            <a:pPr>
              <a:spcAft>
                <a:spcPts val="1600"/>
              </a:spcAft>
              <a:defRPr sz="1500" b="1">
                <a:solidFill>
                  <a:srgbClr val="FFFFFF"/>
                </a:solidFill>
              </a:defRPr>
            </a:pPr>
            <a:r>
              <a:t>Node.js &amp; FileSystem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V8 &amp; Libuv Engine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Server-side JavaScript runtime with direct OS access.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fs/promises Module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Non-blocking, asynchronous disk read &amp; write operations.</a:t>
            </a:r>
          </a:p>
          <a:p>
            <a:pPr>
              <a:spcAft>
                <a:spcPts val="200"/>
              </a:spcAft>
              <a:defRPr sz="1200" b="1">
                <a:solidFill>
                  <a:srgbClr val="FCD34D"/>
                </a:solidFill>
              </a:defRPr>
            </a:pPr>
            <a:r>
              <a:t>• Path Resolution</a:t>
            </a:r>
          </a:p>
          <a:p>
            <a:pPr>
              <a:spcAft>
                <a:spcPts val="1000"/>
              </a:spcAft>
              <a:defRPr sz="1050">
                <a:solidFill>
                  <a:srgbClr val="A1A1AA"/>
                </a:solidFill>
              </a:defRPr>
            </a:pPr>
            <a:r>
              <a:t>Cross-platform path handling via path.join().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DAY 01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Modern Web Standards &amp; Team Git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FFFF"/>
                </a:solidFill>
              </a:defRPr>
            </a:pPr>
            <a:r>
              <a:t>Core Engineering Principles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✔  Semantic HTML5 Hierarchy</a:t>
            </a:r>
          </a:p>
          <a:p>
            <a:pPr>
              <a:spcAft>
                <a:spcPts val="1200"/>
              </a:spcAft>
              <a:defRPr sz="1100">
                <a:solidFill>
                  <a:srgbClr val="E4E4E7"/>
                </a:solidFill>
              </a:defRPr>
            </a:pPr>
            <a:r>
              <a:t>Structure with &lt;header&gt;, &lt;nav&gt;, &lt;main&gt;, &lt;article&gt;, and &lt;footer&gt; to eliminate unindexed div soup, maximizing SEO visibility and accessibility.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✔  CSS Layout Engines (Flexbox vs Grid)</a:t>
            </a:r>
          </a:p>
          <a:p>
            <a:pPr>
              <a:spcAft>
                <a:spcPts val="1200"/>
              </a:spcAft>
              <a:defRPr sz="1100">
                <a:solidFill>
                  <a:srgbClr val="E4E4E7"/>
                </a:solidFill>
              </a:defRPr>
            </a:pPr>
            <a:r>
              <a:t>Flexbox for 1D single-axis alignment (navbars, cards) and CSS Grid for 2D auto-responsive dashboard matrices.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✔  Feature-Branching Strategy</a:t>
            </a:r>
          </a:p>
          <a:p>
            <a:pPr>
              <a:spcAft>
                <a:spcPts val="1200"/>
              </a:spcAft>
              <a:defRPr sz="1100">
                <a:solidFill>
                  <a:srgbClr val="E4E4E7"/>
                </a:solidFill>
              </a:defRPr>
            </a:pPr>
            <a:r>
              <a:t>Production main branch stays locked and stable. Features are isolated in feature/task-name branches and merged via Pull Requests.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✔  Conventional Commit Standards</a:t>
            </a:r>
          </a:p>
          <a:p>
            <a:pPr>
              <a:spcAft>
                <a:spcPts val="1200"/>
              </a:spcAft>
              <a:defRPr sz="1100">
                <a:solidFill>
                  <a:srgbClr val="E4E4E7"/>
                </a:solidFill>
              </a:defRPr>
            </a:pPr>
            <a:r>
              <a:t>Enforces standardized commit tags (feat:, fix:, docs:, refactor:) for clear, automated changelogs.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_branching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91640"/>
            <a:ext cx="4967935" cy="40364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DAY 02 CORE 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Advanced JavaScript &amp; Functional Data Pipelines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FFFF"/>
                </a:solidFill>
              </a:defRPr>
            </a:pPr>
            <a:r>
              <a:t>ES6+ Architecture &amp; Scope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⚡  Block Scope (const / let)</a:t>
            </a:r>
          </a:p>
          <a:p>
            <a:pPr>
              <a:spcAft>
                <a:spcPts val="1400"/>
              </a:spcAft>
              <a:defRPr sz="1100">
                <a:solidFill>
                  <a:srgbClr val="E4E4E7"/>
                </a:solidFill>
              </a:defRPr>
            </a:pPr>
            <a:r>
              <a:t>Eliminated var hoisting hazards and scope leakage. Using const by default guarantees immutable variable bindings.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⚡  Destructuring &amp; Spread Operator (...)</a:t>
            </a:r>
          </a:p>
          <a:p>
            <a:pPr>
              <a:spcAft>
                <a:spcPts val="1400"/>
              </a:spcAft>
              <a:defRPr sz="1100">
                <a:solidFill>
                  <a:srgbClr val="E4E4E7"/>
                </a:solidFill>
              </a:defRPr>
            </a:pPr>
            <a:r>
              <a:t>Clean object/array unpacking and shallow cloning, forming the foundation for immutable React state updates.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⚡  Nullish Coalescing (??) &amp; Optional Chaining (?.)</a:t>
            </a:r>
          </a:p>
          <a:p>
            <a:pPr>
              <a:spcAft>
                <a:spcPts val="1400"/>
              </a:spcAft>
              <a:defRPr sz="1100">
                <a:solidFill>
                  <a:srgbClr val="E4E4E7"/>
                </a:solidFill>
              </a:defRPr>
            </a:pPr>
            <a:r>
              <a:t>Safely navigates deep nested API objects without throwing uncaught runtime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FFFF"/>
                </a:solidFill>
              </a:defRPr>
            </a:pPr>
            <a:r>
              <a:t>Higher-Order Array Methods</a:t>
            </a:r>
          </a:p>
          <a:p>
            <a:pPr>
              <a:spcAft>
                <a:spcPts val="200"/>
              </a:spcAft>
              <a:defRPr sz="1250" b="1">
                <a:solidFill>
                  <a:srgbClr val="F59E0B"/>
                </a:solidFill>
              </a:defRPr>
            </a:pPr>
            <a:r>
              <a:t>📊  .map() — 1-to-1 UI Transformation</a:t>
            </a:r>
          </a:p>
          <a:p>
            <a:pPr>
              <a:spcAft>
                <a:spcPts val="1400"/>
              </a:spcAft>
              <a:defRPr sz="1100">
                <a:solidFill>
                  <a:srgbClr val="E4E4E7"/>
                </a:solidFill>
              </a:defRPr>
            </a:pPr>
            <a:r>
              <a:t>Transforms raw backend API payloads into structured UI presentation elements without mutating source arrays.</a:t>
            </a:r>
          </a:p>
          <a:p>
            <a:pPr>
              <a:spcAft>
                <a:spcPts val="200"/>
              </a:spcAft>
              <a:defRPr sz="1250" b="1">
                <a:solidFill>
                  <a:srgbClr val="F59E0B"/>
                </a:solidFill>
              </a:defRPr>
            </a:pPr>
            <a:r>
              <a:t>📊  .filter() — Boolean Data Selection</a:t>
            </a:r>
          </a:p>
          <a:p>
            <a:pPr>
              <a:spcAft>
                <a:spcPts val="1400"/>
              </a:spcAft>
              <a:defRPr sz="1100">
                <a:solidFill>
                  <a:srgbClr val="E4E4E7"/>
                </a:solidFill>
              </a:defRPr>
            </a:pPr>
            <a:r>
              <a:t>Extracts active, non-forked repositories matching user filter criteria.</a:t>
            </a:r>
          </a:p>
          <a:p>
            <a:pPr>
              <a:spcAft>
                <a:spcPts val="200"/>
              </a:spcAft>
              <a:defRPr sz="1250" b="1">
                <a:solidFill>
                  <a:srgbClr val="F59E0B"/>
                </a:solidFill>
              </a:defRPr>
            </a:pPr>
            <a:r>
              <a:t>📊  .reduce() — Single-Pass Analytical Aggregation</a:t>
            </a:r>
          </a:p>
          <a:p>
            <a:pPr>
              <a:spcAft>
                <a:spcPts val="1400"/>
              </a:spcAft>
              <a:defRPr sz="1100">
                <a:solidFill>
                  <a:srgbClr val="E4E4E7"/>
                </a:solidFill>
              </a:defRPr>
            </a:pPr>
            <a:r>
              <a:t>Computes total stars, fork count, and primary language in 1 single pass:</a:t>
            </a:r>
            <a:br/>
            <a:r>
              <a:t>const totalStars = repos.reduce((sum, r) =&gt; sum + r.stargazers_count, 0);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DAY 02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JavaScript Event Loop &amp; Asynchronous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FFFF"/>
                </a:solidFill>
              </a:defRPr>
            </a:pPr>
            <a:r>
              <a:t>Concurrency &amp; Execution Queues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🔄  1. Single-Threaded Call Stack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V8 executes synchronous functions line-by-line (LIFO). Long I/O tasks are delegated to Web APIs.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🔄  2. Microtask Queue (VIP Priority)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Promises (.then(), async/await) enter the microtask queue and execute immediately after the Call Stack clears.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🔄  3. Macrotask Queue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Timer callbacks (setTimeout, setInterval) wait until all pending microtasks are completely drained.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🔄  4. Concurrent Promise.all()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Dispatches User Profile and Repositories API requests in parallel, cutting network latency by 50%.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vent_loo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91640"/>
            <a:ext cx="4967935" cy="40364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DAY 03 DOM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DOM Event Delegation &amp; State Persistence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FFFF"/>
                </a:solidFill>
              </a:defRPr>
            </a:pPr>
            <a:r>
              <a:t>Memory Optimization &amp; Storage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🎯  Event Bubbling Mechanism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Browser click events propagate upwards through all DOM parent containers automatically.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🎯  Single Container Listener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Attached 1 single listener to the parent container instead of binding 50+ individual button listeners. Eliminates memory leaks.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🎯  Dynamic Interception via closest()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event.target.closest('.tag-btn') reliably intercepts clicks on nested child icons and text spans.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🎯  LocalStorage State Persistence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Serializes bookmarks with JSON.stringify and restores them on page reload with JSON.parse.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m_delegation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91640"/>
            <a:ext cx="4967935" cy="40364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DAY 04 BACKEND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Node.js Core Runtime &amp; Asynchronous FileSystem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FFFF"/>
                </a:solidFill>
              </a:defRPr>
            </a:pPr>
            <a:r>
              <a:t>Server-Side Execution &amp; fs/promises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🟢  Server V8 + Libuv Architecture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JavaScript executing outside the browser sandbox with multi-threaded C++ Libuv handling non-blocking OS I/O.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🟢  CommonJS Module Standard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Explicit encapsulation and sharing via require() imports and module.exports.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🟢  Non-Blocking fs/promises Module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Asynchronous file I/O (readFile, writeFile, appendFile) maintaining full server responsiveness.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🟢  Safe Cross-Platform Paths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path.join(__dirname, 'file.json') prevents operating system path separator conflicts.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ode_arch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91640"/>
            <a:ext cx="4967935" cy="40364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PROJECT SHOWCASE &amp;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Live Demonstration: DevExplorer PRO v2.0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FFFF"/>
                </a:solidFill>
              </a:defRPr>
            </a:pPr>
            <a:r>
              <a:t>Featured Architecture Highlights</a:t>
            </a:r>
          </a:p>
          <a:p>
            <a:pPr>
              <a:spcAft>
                <a:spcPts val="100"/>
              </a:spcAft>
              <a:defRPr sz="1200" b="1">
                <a:solidFill>
                  <a:srgbClr val="F59E0B"/>
                </a:solidFill>
              </a:defRPr>
            </a:pPr>
            <a:r>
              <a:t>🚀  1. Parallel API Fetching</a:t>
            </a:r>
          </a:p>
          <a:p>
            <a:pPr>
              <a:spcAft>
                <a:spcPts val="800"/>
              </a:spcAft>
              <a:defRPr sz="1050">
                <a:solidFill>
                  <a:srgbClr val="E4E4E7"/>
                </a:solidFill>
              </a:defRPr>
            </a:pPr>
            <a:r>
              <a:t>Fetches GitHub User Profile and Repositories concurrently via Promise.all() with shimmer loading states.</a:t>
            </a:r>
          </a:p>
          <a:p>
            <a:pPr>
              <a:spcAft>
                <a:spcPts val="100"/>
              </a:spcAft>
              <a:defRPr sz="1200" b="1">
                <a:solidFill>
                  <a:srgbClr val="F59E0B"/>
                </a:solidFill>
              </a:defRPr>
            </a:pPr>
            <a:r>
              <a:t>🚀  2. Real-Time Analytics Engine</a:t>
            </a:r>
          </a:p>
          <a:p>
            <a:pPr>
              <a:spcAft>
                <a:spcPts val="800"/>
              </a:spcAft>
              <a:defRPr sz="1050">
                <a:solidFill>
                  <a:srgbClr val="E4E4E7"/>
                </a:solidFill>
              </a:defRPr>
            </a:pPr>
            <a:r>
              <a:t>Calculates Total Stars, Fork count, and Top Language using a single-pass .reduce() pipeline.</a:t>
            </a:r>
          </a:p>
          <a:p>
            <a:pPr>
              <a:spcAft>
                <a:spcPts val="100"/>
              </a:spcAft>
              <a:defRPr sz="1200" b="1">
                <a:solidFill>
                  <a:srgbClr val="F59E0B"/>
                </a:solidFill>
              </a:defRPr>
            </a:pPr>
            <a:r>
              <a:t>🚀  3. Event Delegation Tag Cloud</a:t>
            </a:r>
          </a:p>
          <a:p>
            <a:pPr>
              <a:spcAft>
                <a:spcPts val="800"/>
              </a:spcAft>
              <a:defRPr sz="1050">
                <a:solidFill>
                  <a:srgbClr val="E4E4E7"/>
                </a:solidFill>
              </a:defRPr>
            </a:pPr>
            <a:r>
              <a:t>1-click developer exploration (torvalds, gaearon, wasi-747) handled by a single container listener.</a:t>
            </a:r>
          </a:p>
          <a:p>
            <a:pPr>
              <a:spcAft>
                <a:spcPts val="100"/>
              </a:spcAft>
              <a:defRPr sz="1200" b="1">
                <a:solidFill>
                  <a:srgbClr val="F59E0B"/>
                </a:solidFill>
              </a:defRPr>
            </a:pPr>
            <a:r>
              <a:t>🚀  4. LocalStorage State Sync</a:t>
            </a:r>
          </a:p>
          <a:p>
            <a:pPr>
              <a:spcAft>
                <a:spcPts val="800"/>
              </a:spcAft>
              <a:defRPr sz="1050">
                <a:solidFill>
                  <a:srgbClr val="E4E4E7"/>
                </a:solidFill>
              </a:defRPr>
            </a:pPr>
            <a:r>
              <a:t>Persists bookmarked developer profiles client-side across browser sessions.</a:t>
            </a:r>
          </a:p>
          <a:p>
            <a:pPr>
              <a:spcAft>
                <a:spcPts val="100"/>
              </a:spcAft>
              <a:defRPr sz="1200" b="1">
                <a:solidFill>
                  <a:srgbClr val="F59E0B"/>
                </a:solidFill>
              </a:defRPr>
            </a:pPr>
            <a:r>
              <a:t>🚀  5. Resilient Error Handling</a:t>
            </a:r>
          </a:p>
          <a:p>
            <a:pPr>
              <a:spcAft>
                <a:spcPts val="800"/>
              </a:spcAft>
              <a:defRPr sz="1050">
                <a:solidFill>
                  <a:srgbClr val="E4E4E7"/>
                </a:solidFill>
              </a:defRPr>
            </a:pPr>
            <a:r>
              <a:t>Graceful API rate-limit detection, custom 404 cards, and auto-dismissing toast notifications.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vexplorer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91640"/>
            <a:ext cx="4967935" cy="318258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LOOKING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Summary &amp; Readiness for Week 2 (React Deep Dive)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FFFF"/>
                </a:solidFill>
              </a:defRPr>
            </a:pPr>
            <a:r>
              <a:t>Week 1 Engineering Mastery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✔  Semantic Web Standards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HTML5 structure, 2D CSS Grid auto-fit matrices, and Tailwind utility tokens.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✔  Production Git Strategy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Locked main branch, atomic conventional commits, and Pull Request reviews.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✔  Asynchronous Architecture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Call Stack, Microtask queue priority, and non-blocking Promise pipelines.</a:t>
            </a:r>
          </a:p>
          <a:p>
            <a:pPr>
              <a:spcAft>
                <a:spcPts val="200"/>
              </a:spcAft>
              <a:defRPr sz="1250" b="1">
                <a:solidFill>
                  <a:srgbClr val="FCD34D"/>
                </a:solidFill>
              </a:defRPr>
            </a:pPr>
            <a:r>
              <a:t>✔  Memory-Optimized DOM &amp; Node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Event delegation, LocalStorage state sync, and asynchronous FileSystem I/O.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42255" cy="4754880"/>
          </a:xfrm>
          <a:prstGeom prst="roundRect">
            <a:avLst/>
          </a:prstGeom>
          <a:solidFill>
            <a:srgbClr val="1A1A1E"/>
          </a:solidFill>
          <a:ln w="12700">
            <a:solidFill>
              <a:srgbClr val="2A2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FFFFF"/>
                </a:solidFill>
              </a:defRPr>
            </a:pPr>
            <a:r>
              <a:t>Week 2: React Deep Dive Focus</a:t>
            </a:r>
          </a:p>
          <a:p>
            <a:pPr>
              <a:spcAft>
                <a:spcPts val="200"/>
              </a:spcAft>
              <a:defRPr sz="1250" b="1">
                <a:solidFill>
                  <a:srgbClr val="F59E0B"/>
                </a:solidFill>
              </a:defRPr>
            </a:pPr>
            <a:r>
              <a:t>🚀  Declarative UI Mindset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Transitioning from imperative DOM manipulation to Declarative React Component States.</a:t>
            </a:r>
          </a:p>
          <a:p>
            <a:pPr>
              <a:spcAft>
                <a:spcPts val="200"/>
              </a:spcAft>
              <a:defRPr sz="1250" b="1">
                <a:solidFill>
                  <a:srgbClr val="F59E0B"/>
                </a:solidFill>
              </a:defRPr>
            </a:pPr>
            <a:r>
              <a:t>🚀  JSX &amp; Virtual DOM Architecture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Using ES6+ array pipelines (.map()) directly in JSX component trees.</a:t>
            </a:r>
          </a:p>
          <a:p>
            <a:pPr>
              <a:spcAft>
                <a:spcPts val="200"/>
              </a:spcAft>
              <a:defRPr sz="1250" b="1">
                <a:solidFill>
                  <a:srgbClr val="F59E0B"/>
                </a:solidFill>
              </a:defRPr>
            </a:pPr>
            <a:r>
              <a:t>🚀  State Immutability &amp; Hooks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Managing state with useState and useEffect cleanly using spread operators (...state).</a:t>
            </a:r>
          </a:p>
          <a:p>
            <a:pPr>
              <a:spcAft>
                <a:spcPts val="200"/>
              </a:spcAft>
              <a:defRPr sz="1250" b="1">
                <a:solidFill>
                  <a:srgbClr val="F59E0B"/>
                </a:solidFill>
              </a:defRPr>
            </a:pPr>
            <a:r>
              <a:t>🚀  Target Deliverable</a:t>
            </a:r>
          </a:p>
          <a:p>
            <a:pPr>
              <a:spcAft>
                <a:spcPts val="1000"/>
              </a:spcAft>
              <a:defRPr sz="1100">
                <a:solidFill>
                  <a:srgbClr val="E4E4E7"/>
                </a:solidFill>
              </a:defRPr>
            </a:pPr>
            <a:r>
              <a:t>Interactive Tic-Tac-Toe App with Undo/Redo &amp; Time-Travel history.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