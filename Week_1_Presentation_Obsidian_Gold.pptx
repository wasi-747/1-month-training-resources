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18872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F59E0B"/>
                </a:solidFill>
              </a:defRPr>
            </a:pPr>
            <a:r>
              <a:t>1-MONTH FULL-STACK TRAINING • WEEK 1 REVIEW &amp; DEMO</a:t>
            </a:r>
          </a:p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Modern Web Foundations &amp;</a:t>
            </a:r>
            <a:br/>
            <a:r>
              <a:t>Advanced JavaScript Architecture</a:t>
            </a:r>
          </a:p>
          <a:p>
            <a:pPr>
              <a:spcAft>
                <a:spcPts val="2400"/>
              </a:spcAft>
              <a:defRPr sz="1500">
                <a:solidFill>
                  <a:srgbClr val="A1A1AA"/>
                </a:solidFill>
              </a:defRPr>
            </a:pPr>
            <a:r>
              <a:t>Comprehensive Architectural Walkthrough with Exact Code Snippets &amp; Line Numbers:</a:t>
            </a:r>
            <a:br/>
            <a:r>
              <a:t>Semantic HTML5, CSS Grid/Flexbox, Event Loop, Event Delegation, LocalStorage &amp; Node.js Core.</a:t>
            </a:r>
          </a:p>
          <a:p>
            <a:pPr>
              <a:spcAft>
                <a:spcPts val="800"/>
              </a:spcAft>
              <a:defRPr sz="1500" b="1">
                <a:solidFill>
                  <a:srgbClr val="FCD34D"/>
                </a:solidFill>
              </a:defRPr>
            </a:pPr>
            <a:r>
              <a:t>🚀 FEATURED LIVE MINI-PROJECT: DevExplorer PRO v2.0 (GitHub Analytics &amp; Bookmark Manager)</a:t>
            </a:r>
          </a:p>
          <a:p>
            <a:pPr>
              <a:defRPr sz="1300">
                <a:solidFill>
                  <a:srgbClr val="A1A1AA"/>
                </a:solidFill>
              </a:defRPr>
            </a:pPr>
            <a:r>
              <a:t>Presenter: Full-Stack Engineering Trainee  |  Date: August 10,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WEEK 1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Technical Curriculum &amp; 4-Day Milestone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560320" cy="484632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22860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59E0B"/>
                </a:solidFill>
              </a:defRPr>
            </a:pPr>
            <a:r>
              <a:t>DAY 01</a:t>
            </a:r>
          </a:p>
          <a:p>
            <a:pPr>
              <a:spcAft>
                <a:spcPts val="1600"/>
              </a:spcAft>
              <a:defRPr sz="1500" b="1">
                <a:solidFill>
                  <a:srgbClr val="FFFFFF"/>
                </a:solidFill>
              </a:defRPr>
            </a:pPr>
            <a:r>
              <a:t>Web Design &amp; Git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• HTML5 Semantics</a:t>
            </a:r>
          </a:p>
          <a:p>
            <a:pPr>
              <a:spcAft>
                <a:spcPts val="1000"/>
              </a:spcAft>
              <a:defRPr sz="1050">
                <a:solidFill>
                  <a:srgbClr val="A1A1AA"/>
                </a:solidFill>
              </a:defRPr>
            </a:pPr>
            <a:r>
              <a:t>Replaced &lt;div&gt; soup with &lt;main&gt;, &lt;nav&gt;, &lt;header&gt; for SEO &amp; a11y.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• Flexbox &amp; CSS Grid</a:t>
            </a:r>
          </a:p>
          <a:p>
            <a:pPr>
              <a:spcAft>
                <a:spcPts val="1000"/>
              </a:spcAft>
              <a:defRPr sz="1050">
                <a:solidFill>
                  <a:srgbClr val="A1A1AA"/>
                </a:solidFill>
              </a:defRPr>
            </a:pPr>
            <a:r>
              <a:t>1D component alignment vs 2D responsive grid matrices.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• Professional Git</a:t>
            </a:r>
          </a:p>
          <a:p>
            <a:pPr>
              <a:spcAft>
                <a:spcPts val="1000"/>
              </a:spcAft>
              <a:defRPr sz="1050">
                <a:solidFill>
                  <a:srgbClr val="A1A1AA"/>
                </a:solidFill>
              </a:defRPr>
            </a:pPr>
            <a:r>
              <a:t>Feature-branching (git checkout -b) &amp; Conventional Commits.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463040"/>
            <a:ext cx="2560320" cy="484632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1600200"/>
            <a:ext cx="22860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59E0B"/>
                </a:solidFill>
              </a:defRPr>
            </a:pPr>
            <a:r>
              <a:t>DAY 02</a:t>
            </a:r>
          </a:p>
          <a:p>
            <a:pPr>
              <a:spcAft>
                <a:spcPts val="1600"/>
              </a:spcAft>
              <a:defRPr sz="1500" b="1">
                <a:solidFill>
                  <a:srgbClr val="FFFFFF"/>
                </a:solidFill>
              </a:defRPr>
            </a:pPr>
            <a:r>
              <a:t>Advanced JS &amp; Async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• ES6+ Architecture</a:t>
            </a:r>
          </a:p>
          <a:p>
            <a:pPr>
              <a:spcAft>
                <a:spcPts val="1000"/>
              </a:spcAft>
              <a:defRPr sz="1050">
                <a:solidFill>
                  <a:srgbClr val="A1A1AA"/>
                </a:solidFill>
              </a:defRPr>
            </a:pPr>
            <a:r>
              <a:t>Block scope (const/let), destructuring, and spread operator.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• Array Pipelines</a:t>
            </a:r>
          </a:p>
          <a:p>
            <a:pPr>
              <a:spcAft>
                <a:spcPts val="1000"/>
              </a:spcAft>
              <a:defRPr sz="1050">
                <a:solidFill>
                  <a:srgbClr val="A1A1AA"/>
                </a:solidFill>
              </a:defRPr>
            </a:pPr>
            <a:r>
              <a:t>.map(), .filter(), and .reduce() 1-pass analytical totals.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• Event Loop Engine</a:t>
            </a:r>
          </a:p>
          <a:p>
            <a:pPr>
              <a:spcAft>
                <a:spcPts val="1000"/>
              </a:spcAft>
              <a:defRPr sz="1050">
                <a:solidFill>
                  <a:srgbClr val="A1A1AA"/>
                </a:solidFill>
              </a:defRPr>
            </a:pPr>
            <a:r>
              <a:t>Call Stack execution, Microtask Queue vs Macrotasks.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463040"/>
            <a:ext cx="2560320" cy="484632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1600200"/>
            <a:ext cx="22860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59E0B"/>
                </a:solidFill>
              </a:defRPr>
            </a:pPr>
            <a:r>
              <a:t>DAY 03</a:t>
            </a:r>
          </a:p>
          <a:p>
            <a:pPr>
              <a:spcAft>
                <a:spcPts val="1600"/>
              </a:spcAft>
              <a:defRPr sz="1500" b="1">
                <a:solidFill>
                  <a:srgbClr val="FFFFFF"/>
                </a:solidFill>
              </a:defRPr>
            </a:pPr>
            <a:r>
              <a:t>DOM &amp; Mini-Project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• Event Delegation</a:t>
            </a:r>
          </a:p>
          <a:p>
            <a:pPr>
              <a:spcAft>
                <a:spcPts val="1000"/>
              </a:spcAft>
              <a:defRPr sz="1050">
                <a:solidFill>
                  <a:srgbClr val="A1A1AA"/>
                </a:solidFill>
              </a:defRPr>
            </a:pPr>
            <a:r>
              <a:t>Single parent listener handles dynamic items via closest().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• LocalStorage Sync</a:t>
            </a:r>
          </a:p>
          <a:p>
            <a:pPr>
              <a:spcAft>
                <a:spcPts val="1000"/>
              </a:spcAft>
              <a:defRPr sz="1050">
                <a:solidFill>
                  <a:srgbClr val="A1A1AA"/>
                </a:solidFill>
              </a:defRPr>
            </a:pPr>
            <a:r>
              <a:t>Client state persistence using JSON serialization.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• DevExplorer PRO</a:t>
            </a:r>
          </a:p>
          <a:p>
            <a:pPr>
              <a:spcAft>
                <a:spcPts val="1000"/>
              </a:spcAft>
              <a:defRPr sz="1050">
                <a:solidFill>
                  <a:srgbClr val="A1A1AA"/>
                </a:solidFill>
              </a:defRPr>
            </a:pPr>
            <a:r>
              <a:t>Parallel API fetching via Promise.all() + live analytics.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463040"/>
            <a:ext cx="2560320" cy="484632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43416" y="1600200"/>
            <a:ext cx="22860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59E0B"/>
                </a:solidFill>
              </a:defRPr>
            </a:pPr>
            <a:r>
              <a:t>DAY 04</a:t>
            </a:r>
          </a:p>
          <a:p>
            <a:pPr>
              <a:spcAft>
                <a:spcPts val="1600"/>
              </a:spcAft>
              <a:defRPr sz="1500" b="1">
                <a:solidFill>
                  <a:srgbClr val="FFFFFF"/>
                </a:solidFill>
              </a:defRPr>
            </a:pPr>
            <a:r>
              <a:t>Node.js &amp; FileSystem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• V8 &amp; Libuv Engine</a:t>
            </a:r>
          </a:p>
          <a:p>
            <a:pPr>
              <a:spcAft>
                <a:spcPts val="1000"/>
              </a:spcAft>
              <a:defRPr sz="1050">
                <a:solidFill>
                  <a:srgbClr val="A1A1AA"/>
                </a:solidFill>
              </a:defRPr>
            </a:pPr>
            <a:r>
              <a:t>Server-side JavaScript runtime with direct OS access.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• fs/promises Module</a:t>
            </a:r>
          </a:p>
          <a:p>
            <a:pPr>
              <a:spcAft>
                <a:spcPts val="1000"/>
              </a:spcAft>
              <a:defRPr sz="1050">
                <a:solidFill>
                  <a:srgbClr val="A1A1AA"/>
                </a:solidFill>
              </a:defRPr>
            </a:pPr>
            <a:r>
              <a:t>Non-blocking, asynchronous disk read &amp; write operations.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• Path Resolution</a:t>
            </a:r>
          </a:p>
          <a:p>
            <a:pPr>
              <a:spcAft>
                <a:spcPts val="1000"/>
              </a:spcAft>
              <a:defRPr sz="1050">
                <a:solidFill>
                  <a:srgbClr val="A1A1AA"/>
                </a:solidFill>
              </a:defRPr>
            </a:pPr>
            <a:r>
              <a:t>Cross-platform path handling via path.join().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DAY 01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Day 01: Modern Web Standards &amp; Team Git Workflows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663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FFFFFF"/>
                </a:solidFill>
              </a:defRPr>
            </a:pPr>
            <a:r>
              <a:t>Architectural Decisions &amp; Standards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✔  Semantic HTML5 Hierarchy (index.html: L30-L240)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Utilized &lt;header&gt;, &lt;nav&gt;, &lt;main&gt;, &lt;aside&gt;, &lt;article&gt;, and &lt;footer&gt;. Replaced generic div soup to maximize Google SEO and screen reader accessibility.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✔  1D Flexbox vs 2D CSS Grid (styles.css)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Flexbox aligns 1D axes (.header-container, .quick-tags) with justify-content: space-between. CSS Grid powers 2D dashboard layouts.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✔  The Golden Responsive Grid Formula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grid-template-columns: repeat(auto-fit, minmax(280px, 1fr)) creates automatic multi-column responsiveness without writing CSS media queries!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✔  Professional Feature-Branching Git Workflow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All changes isolated in feature branches (git checkout -b) with Conventional Commits (feat:, fix:, docs:) before merging via PRs.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42255" cy="484632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7649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59E0B"/>
                </a:solidFill>
              </a:defRPr>
            </a:pPr>
            <a:r>
              <a:t>📄 Production Snippet: HTML5, CSS Grid &amp; Git</a:t>
            </a:r>
          </a:p>
          <a:p>
            <a:pPr>
              <a:defRPr sz="1000">
                <a:solidFill>
                  <a:srgbClr val="34D399"/>
                </a:solidFill>
                <a:latin typeface="Consolas"/>
              </a:defRPr>
            </a:pPr>
            <a:r>
              <a:t>/* 1. CSS GRID: Golden Auto-Responsive Formula */</a:t>
            </a:r>
            <a:br/>
            <a:r>
              <a:t>.repos-grid {</a:t>
            </a:r>
            <a:br/>
            <a:r>
              <a:t>  display: grid;</a:t>
            </a:r>
            <a:br/>
            <a:r>
              <a:t>  grid-template-columns: repeat(auto-fit, minmax(280px, 1fr));</a:t>
            </a:r>
            <a:br/>
            <a:r>
              <a:t>  gap: 1.5rem;</a:t>
            </a:r>
            <a:br/>
            <a:r>
              <a:t>}</a:t>
            </a:r>
            <a:br/>
            <a:br/>
            <a:r>
              <a:t>/* 2. FLEXBOX: 1D Single-Axis Navbar */</a:t>
            </a:r>
            <a:br/>
            <a:r>
              <a:t>.header-container {</a:t>
            </a:r>
            <a:br/>
            <a:r>
              <a:t>  display: flex;</a:t>
            </a:r>
            <a:br/>
            <a:r>
              <a:t>  justify-content: space-between; /* Space logo &amp; tabs */</a:t>
            </a:r>
            <a:br/>
            <a:r>
              <a:t>  align-items: center;            /* Vertical center */</a:t>
            </a:r>
            <a:br/>
            <a:r>
              <a:t>}</a:t>
            </a:r>
            <a:br/>
            <a:br/>
            <a:r>
              <a:t># 3. Professional Git Team Workflow</a:t>
            </a:r>
            <a:br/>
            <a:r>
              <a:t>$ git checkout -b feature/dashboard-ui</a:t>
            </a:r>
            <a:br/>
            <a:r>
              <a:t>$ git add index.html styles.css</a:t>
            </a:r>
            <a:br/>
            <a:r>
              <a:t>$ git commit -m "feat: build semantic dashboard"</a:t>
            </a:r>
            <a:br/>
            <a:r>
              <a:t>$ git push -u origin feature/dashboard-ui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DAY 02 CORE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Day 02: Advanced JS Scope &amp; Event Loop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663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FFFFFF"/>
                </a:solidFill>
              </a:defRPr>
            </a:pPr>
            <a:r>
              <a:t>Memory, Scope &amp; Engine Concurrency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⚡  Block Scope &amp; TDZ (const vs let vs var)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const by default prevents identifier rebinding. Eliminated var scope-leakage bugs and hoisting hazards via Temporal Dead Zone (TDZ).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⚡  Single-Threaded Call Stack (LIFO)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V8 executes synchronous JavaScript code sequentially. Blocking operations are offloaded to background Web APIs / Libuv.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⚡  Microtask Queue (VIP Priority)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Promises (.then, async/await) enter the Microtask queue, executing immediately when Call Stack empties before any Macrotask.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⚡  Macrotask Queue (setTimeout)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Timers execute strictly after all microtasks finish. Used in Toast notification auto-dismissal.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42255" cy="484632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vent_loop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600200"/>
            <a:ext cx="4967935" cy="403644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APP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Mini-Project: Parallel API Fetching &amp; Caching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663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FFFFFF"/>
                </a:solidFill>
              </a:defRPr>
            </a:pPr>
            <a:r>
              <a:t>Parallel Network Engine &amp; In-Memory Cache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🚀  In-Memory Map Cache (app.js: L23, L166)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ES6 Private Field #searchCache = new Map(). Checks if user was already fetched; re-renders in 0ms without hitting GitHub rate limits.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🚀  Promise.all Concurrent Fetching (app.js: L181)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Dispatches User Profile and Repositories endpoints simultaneously in parallel, cutting network latency by 50% compared to sequential awaits.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🚀  Stream Decoding (app.js: L197)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await userRes.json() decodes the raw incoming HTTP stream into live JavaScript objects.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🚀  Try / Catch Error Boundaries (app.js: L211)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Catches network dropouts and displays friendly UI alerts without crashing the runtime application.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42255" cy="484632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7649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59E0B"/>
                </a:solidFill>
              </a:defRPr>
            </a:pPr>
            <a:r>
              <a:t>📄 app.js: Lines 166–203 (Parallel Fetch &amp; Cache)</a:t>
            </a:r>
          </a:p>
          <a:p>
            <a:pPr>
              <a:defRPr sz="950">
                <a:solidFill>
                  <a:srgbClr val="34D399"/>
                </a:solidFill>
                <a:latin typeface="Consolas"/>
              </a:defRPr>
            </a:pPr>
            <a:r>
              <a:t>// 1. Check In-Memory Map Cache (0ms Instant Load)</a:t>
            </a:r>
            <a:br/>
            <a:r>
              <a:t>if (this.#searchCache.has(cleanUsername)) {</a:t>
            </a:r>
            <a:br/>
            <a:r>
              <a:t>  const cached = this.#searchCache.get(cleanUsername);</a:t>
            </a:r>
            <a:br/>
            <a:r>
              <a:t>  this.renderProfileCard(cached.user, true);</a:t>
            </a:r>
            <a:br/>
            <a:r>
              <a:t>  return;</a:t>
            </a:r>
            <a:br/>
            <a:r>
              <a:t>}</a:t>
            </a:r>
            <a:br/>
            <a:br/>
            <a:r>
              <a:t>// 2. Parallel API Dispatch via Promise.all()</a:t>
            </a:r>
            <a:br/>
            <a:r>
              <a:t>const [userRes, reposRes] = await Promise.all([</a:t>
            </a:r>
            <a:br/>
            <a:r>
              <a:t>  fetch(`https://api.github.com/users/${username}`),</a:t>
            </a:r>
            <a:br/>
            <a:r>
              <a:t>  fetch(`https://api.github.com/users/${username}/repos?per_page=100`)</a:t>
            </a:r>
            <a:br/>
            <a:r>
              <a:t>]);</a:t>
            </a:r>
            <a:br/>
            <a:br/>
            <a:r>
              <a:t>// 3. Stream Parsing &amp; State Persistence</a:t>
            </a:r>
            <a:br/>
            <a:r>
              <a:t>const userData = await userRes.json();</a:t>
            </a:r>
            <a:br/>
            <a:r>
              <a:t>const reposData = reposRes.ok ? await reposRes.json() : [];</a:t>
            </a:r>
            <a:br/>
            <a:r>
              <a:t>this.#searchCache.set(cleanUsername, { user: userData, repos: reposData });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DATA PIPELINES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Mini-Project: Single-Pass Analytics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663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FFFFFF"/>
                </a:solidFill>
              </a:defRPr>
            </a:pPr>
            <a:r>
              <a:t>Higher-Order Analytical Aggregation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📊  Total Stars in 1-Pass (app.js: L228)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repos.reduce((acc, repo) =&gt; acc + repo.stargazers_count, 0) aggregates total star counts across 100+ repositories in O(N) linear time.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📊  Total Forks Aggregation (app.js: L232)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repos.reduce((acc, repo) =&gt; acc + repo.forks_count, 0) accumulates community fork metrics.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📊  Top Language Frequency Map (app.js: L237)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.reduce() constructs a dynamic frequency dictionary: { JavaScript: 15, TypeScript: 8, Python: 3 } to determine developer specialty.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📊  Immutability &amp; Spread (app.js: L259, L273)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const languages = [...new Set(...)]; and let result = [...this.currentRepos] guarantee original API state is never mutated.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42255" cy="484632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7649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59E0B"/>
                </a:solidFill>
              </a:defRPr>
            </a:pPr>
            <a:r>
              <a:t>📄 app.js: Lines 228–248 (computeAnalytics)</a:t>
            </a:r>
          </a:p>
          <a:p>
            <a:pPr>
              <a:defRPr sz="950">
                <a:solidFill>
                  <a:srgbClr val="FBBF24"/>
                </a:solidFill>
                <a:latin typeface="Consolas"/>
              </a:defRPr>
            </a:pPr>
            <a:r>
              <a:t>// 1. Total Stars Calculation (.reduce single-pass)</a:t>
            </a:r>
            <a:br/>
            <a:r>
              <a:t>const totalStars = repos.reduce((acc, repo) =&gt; </a:t>
            </a:r>
            <a:br/>
            <a:r>
              <a:t>  acc + (repo.stargazers_count || 0), 0</a:t>
            </a:r>
            <a:br/>
            <a:r>
              <a:t>);</a:t>
            </a:r>
            <a:br/>
            <a:r>
              <a:t>this.metricTotalStars.textContent = totalStars.toLocaleString();</a:t>
            </a:r>
            <a:br/>
            <a:br/>
            <a:r>
              <a:t>// 2. Language Frequency Map Generator (.reduce)</a:t>
            </a:r>
            <a:br/>
            <a:r>
              <a:t>const langCounts = repos.reduce((acc, repo) =&gt; {</a:t>
            </a:r>
            <a:br/>
            <a:r>
              <a:t>  if (repo.language) {</a:t>
            </a:r>
            <a:br/>
            <a:r>
              <a:t>    acc[repo.language] = (acc[repo.language] || 0) + 1;</a:t>
            </a:r>
            <a:br/>
            <a:r>
              <a:t>  }</a:t>
            </a:r>
            <a:br/>
            <a:r>
              <a:t>  return acc;</a:t>
            </a:r>
            <a:br/>
            <a:r>
              <a:t>}, {}); // Output: { JavaScript: 15, Python: 4 }</a:t>
            </a:r>
            <a:br/>
            <a:br/>
            <a:r>
              <a:t>// 3. Extract Dominant Language</a:t>
            </a:r>
            <a:br/>
            <a:r>
              <a:t>let topLang = 'JavaScript', maxCount = 0;</a:t>
            </a:r>
            <a:br/>
            <a:r>
              <a:t>for (const [lang, count] of Object.entries(langCounts)) {</a:t>
            </a:r>
            <a:br/>
            <a:r>
              <a:t>  if (count &gt; maxCount) { maxCount = count; topLang = lang;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DOM &amp;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Mini-Project: Event Delegation &amp; LocalStorage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663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FFFFFF"/>
                </a:solidFill>
              </a:defRPr>
            </a:pPr>
            <a:r>
              <a:t>Memory Efficiency &amp; Client Persistence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🎯  Single Container Listener (app.js: L102, L141)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Instead of binding 50+ listeners, attached 1 listener to #bookmarks-grid and #quick-tags-container. Prevents memory leaks.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🎯  Event Bubbling &amp; closest() (app.js: L104, L142)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Clicks bubble upwards; e.target.closest('.tag-btn') reliably extracts dataset.user even if user clicked inner icons or spans.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🎯  JSON Serialization Protocol (app.js: L505, L517)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localStorage only stores strings. Used JSON.stringify() to serialize array state, and JSON.parse() on load.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🎯  State Sync (.some &amp; Badges) (app.js: L406)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this.bookmarks.some() syncs Star bookmark toggle button and updates navbar badge counts automatically.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42255" cy="484632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7649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59E0B"/>
                </a:solidFill>
              </a:defRPr>
            </a:pPr>
            <a:r>
              <a:t>📄 app.js: Lines 102–145, 505–523</a:t>
            </a:r>
          </a:p>
          <a:p>
            <a:pPr>
              <a:defRPr sz="950">
                <a:solidFill>
                  <a:srgbClr val="60A5FA"/>
                </a:solidFill>
                <a:latin typeface="Consolas"/>
              </a:defRPr>
            </a:pPr>
            <a:r>
              <a:t>// 1. Event Delegation on Parent Grid (app.js: L141)</a:t>
            </a:r>
            <a:br/>
            <a:r>
              <a:t>this.bookmarksGrid.addEventListener('click', (e) =&gt; {</a:t>
            </a:r>
            <a:br/>
            <a:r>
              <a:t>  const btnInspect = e.target.closest('.btn-inspect-dev');</a:t>
            </a:r>
            <a:br/>
            <a:r>
              <a:t>  const btnRemove = e.target.closest('.btn-remove-bookmark');</a:t>
            </a:r>
            <a:br/>
            <a:r>
              <a:t>  if (btnInspect) this.fetchDeveloperProfile(btnInspect.dataset.user);</a:t>
            </a:r>
            <a:br/>
            <a:r>
              <a:t>  if (btnRemove) this.removeBookmark(btnRemove.dataset.user);</a:t>
            </a:r>
            <a:br/>
            <a:r>
              <a:t>});</a:t>
            </a:r>
            <a:br/>
            <a:br/>
            <a:r>
              <a:t>// 2. LocalStorage Read Protocol (app.js: L505)</a:t>
            </a:r>
            <a:br/>
            <a:r>
              <a:t>#loadBookmarksFromStorage() {</a:t>
            </a:r>
            <a:br/>
            <a:r>
              <a:t>  const data = localStorage.getItem(this.#STORAGE_KEY);</a:t>
            </a:r>
            <a:br/>
            <a:r>
              <a:t>  return data ? JSON.parse(data) : []; // String -&gt; Array</a:t>
            </a:r>
            <a:br/>
            <a:r>
              <a:t>}</a:t>
            </a:r>
            <a:br/>
            <a:br/>
            <a:r>
              <a:t>// 3. LocalStorage Write Protocol (app.js: L517)</a:t>
            </a:r>
            <a:br/>
            <a:r>
              <a:t>#saveBookmarksToStorage() {</a:t>
            </a:r>
            <a:br/>
            <a:r>
              <a:t>  localStorage.setItem(this.#STORAGE_KEY, JSON.stringify(this.bookmarks));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DAY 04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Day 04: Node.js V8 Runtime &amp; Asynchronous FileSystem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663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FFFFFF"/>
                </a:solidFill>
              </a:defRPr>
            </a:pPr>
            <a:r>
              <a:t>Server-Side V8 &amp; Non-Blocking FileSystem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🟢  V8 Runtime + Libuv C++ Layer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Chrome V8 translates JS to machine code while multi-threaded Libuv executes background disk I/O without blocking server traffic.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🟢  Non-Blocking fs/promises Module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Replaced synchronous fs.readFileSync with await fs.readFile / fs.writeFile. Keeps main Event Loop 100% responsive.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🟢  Cross-Platform path.join(__dirname, ...)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Normalizes path separators (Windows backslash vs POSIX forward slash) preventing production deployment path crashes.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🟢  Backend Analytics Logging Pipeline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Automated Node.js script reads, aggregates, and persists DevExplorer telemetry snapshots to disk asynchronously.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42255" cy="484632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7649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59E0B"/>
                </a:solidFill>
              </a:defRPr>
            </a:pPr>
            <a:r>
              <a:t>📄 Node.js: practice-snippets.js (fs/promises)</a:t>
            </a:r>
          </a:p>
          <a:p>
            <a:pPr>
              <a:defRPr sz="950">
                <a:solidFill>
                  <a:srgbClr val="34D399"/>
                </a:solidFill>
                <a:latin typeface="Consolas"/>
              </a:defRPr>
            </a:pPr>
            <a:r>
              <a:t>const fs = require('fs/promises');</a:t>
            </a:r>
            <a:br/>
            <a:r>
              <a:t>const path = require('path');</a:t>
            </a:r>
            <a:br/>
            <a:br/>
            <a:r>
              <a:t>async function saveAnalyticsLog(analyticsData) {</a:t>
            </a:r>
            <a:br/>
            <a:r>
              <a:t>  try {</a:t>
            </a:r>
            <a:br/>
            <a:r>
              <a:t>    // 1. Cross-Platform Safe Path</a:t>
            </a:r>
            <a:br/>
            <a:r>
              <a:t>    const logPath = path.join(__dirname, 'logs', 'analytics.json');</a:t>
            </a:r>
            <a:br/>
            <a:br/>
            <a:r>
              <a:t>    // 2. Non-Blocking Asynchronous Disk Write</a:t>
            </a:r>
            <a:br/>
            <a:r>
              <a:t>    await fs.writeFile(logPath, JSON.stringify(analyticsData, null, 2));</a:t>
            </a:r>
            <a:br/>
            <a:r>
              <a:t>    console.log('✔ Non-blocking write completed!');</a:t>
            </a:r>
            <a:br/>
            <a:br/>
            <a:r>
              <a:t>    // 3. Asynchronous Non-Blocking Disk Read</a:t>
            </a:r>
            <a:br/>
            <a:r>
              <a:t>    const raw = await fs.readFile(logPath, 'utf-8');</a:t>
            </a:r>
            <a:br/>
            <a:r>
              <a:t>    return JSON.parse(raw);</a:t>
            </a:r>
            <a:br/>
            <a:r>
              <a:t>  } catch (err) {</a:t>
            </a:r>
            <a:br/>
            <a:r>
              <a:t>    console.error('Disk I/O Error:', err.message);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Live Demonstration Walkthrough &amp; Cheat Sheet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57800" cy="146304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983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Step 1: Search Trigger  (app.js: L94)</a:t>
            </a:r>
          </a:p>
          <a:p>
            <a:pPr>
              <a:spcAft>
                <a:spcPts val="200"/>
              </a:spcAft>
              <a:defRPr sz="1000" b="1">
                <a:solidFill>
                  <a:srgbClr val="FFFFFF"/>
                </a:solidFill>
              </a:defRPr>
            </a:pPr>
            <a:r>
              <a:t>Action: Type 'torvalds' or click popular developer tags</a:t>
            </a:r>
          </a:p>
          <a:p>
            <a:pPr>
              <a:defRPr sz="950">
                <a:solidFill>
                  <a:srgbClr val="A1A1AA"/>
                </a:solidFill>
              </a:defRPr>
            </a:pPr>
            <a:r>
              <a:t>Under the Hood: Promise.all concurrent API fetch executes; Network tab shows parallel user &amp; repo responses.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63040"/>
            <a:ext cx="5257800" cy="146304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554480"/>
            <a:ext cx="4983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Step 2: Analytics Cards  (app.js: L228)</a:t>
            </a:r>
          </a:p>
          <a:p>
            <a:pPr>
              <a:spcAft>
                <a:spcPts val="200"/>
              </a:spcAft>
              <a:defRPr sz="1000" b="1">
                <a:solidFill>
                  <a:srgbClr val="FFFFFF"/>
                </a:solidFill>
              </a:defRPr>
            </a:pPr>
            <a:r>
              <a:t>Action: Inspect Total Stars, Forks &amp; Language badges</a:t>
            </a:r>
          </a:p>
          <a:p>
            <a:pPr>
              <a:defRPr sz="950">
                <a:solidFill>
                  <a:srgbClr val="A1A1AA"/>
                </a:solidFill>
              </a:defRPr>
            </a:pPr>
            <a:r>
              <a:t>Under the Hood: .reduce() aggregates 100+ repos into single total numbers in 1 linear pass.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5257800" cy="146304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154680"/>
            <a:ext cx="4983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Step 3: Live Filters  (app.js: L273)</a:t>
            </a:r>
          </a:p>
          <a:p>
            <a:pPr>
              <a:spcAft>
                <a:spcPts val="200"/>
              </a:spcAft>
              <a:defRPr sz="1000" b="1">
                <a:solidFill>
                  <a:srgbClr val="FFFFFF"/>
                </a:solidFill>
              </a:defRPr>
            </a:pPr>
            <a:r>
              <a:t>Action: Type keywords in filter box &amp; select language</a:t>
            </a:r>
          </a:p>
          <a:p>
            <a:pPr>
              <a:defRPr sz="950">
                <a:solidFill>
                  <a:srgbClr val="A1A1AA"/>
                </a:solidFill>
              </a:defRPr>
            </a:pPr>
            <a:r>
              <a:t>Under the Hood: Spread operator maintains immutability while .filter() updates grid without reloading.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063240"/>
            <a:ext cx="5257800" cy="146304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3154680"/>
            <a:ext cx="4983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Step 4: Bookmark &amp; Storage  (app.js: L369)</a:t>
            </a:r>
          </a:p>
          <a:p>
            <a:pPr>
              <a:spcAft>
                <a:spcPts val="200"/>
              </a:spcAft>
              <a:defRPr sz="1000" b="1">
                <a:solidFill>
                  <a:srgbClr val="FFFFFF"/>
                </a:solidFill>
              </a:defRPr>
            </a:pPr>
            <a:r>
              <a:t>Action: Click 'Save to Bookmarks' &amp; inspect Tab</a:t>
            </a:r>
          </a:p>
          <a:p>
            <a:pPr>
              <a:defRPr sz="950">
                <a:solidFill>
                  <a:srgbClr val="A1A1AA"/>
                </a:solidFill>
              </a:defRPr>
            </a:pPr>
            <a:r>
              <a:t>Under the Hood: JSON.stringify saves to localStorage; badge count updates; toast animates via setTimeout.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63440"/>
            <a:ext cx="5257800" cy="146304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754879"/>
            <a:ext cx="4983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Step 5: Event Delegation  (app.js: L141)</a:t>
            </a:r>
          </a:p>
          <a:p>
            <a:pPr>
              <a:spcAft>
                <a:spcPts val="200"/>
              </a:spcAft>
              <a:defRPr sz="1000" b="1">
                <a:solidFill>
                  <a:srgbClr val="FFFFFF"/>
                </a:solidFill>
              </a:defRPr>
            </a:pPr>
            <a:r>
              <a:t>Action: Click 'Inspect' or 'Remove' in Bookmarks tab</a:t>
            </a:r>
          </a:p>
          <a:p>
            <a:pPr>
              <a:defRPr sz="950">
                <a:solidFill>
                  <a:srgbClr val="A1A1AA"/>
                </a:solidFill>
              </a:defRPr>
            </a:pPr>
            <a:r>
              <a:t>Under the Hood: 1 single parent listener intercepts clicks via event.target.closest(). Zero memory leaks!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663440"/>
            <a:ext cx="5257800" cy="146304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4754879"/>
            <a:ext cx="4983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Step 6: Cache Verification  (app.js: L166)</a:t>
            </a:r>
          </a:p>
          <a:p>
            <a:pPr>
              <a:spcAft>
                <a:spcPts val="200"/>
              </a:spcAft>
              <a:defRPr sz="1000" b="1">
                <a:solidFill>
                  <a:srgbClr val="FFFFFF"/>
                </a:solidFill>
              </a:defRPr>
            </a:pPr>
            <a:r>
              <a:t>Action: Search 'torvalds' again in Explorer tab</a:t>
            </a:r>
          </a:p>
          <a:p>
            <a:pPr>
              <a:defRPr sz="950">
                <a:solidFill>
                  <a:srgbClr val="A1A1AA"/>
                </a:solidFill>
              </a:defRPr>
            </a:pPr>
            <a:r>
              <a:t>Under the Hood: In-Memory Map cache loads profile in 0ms instant speed; 'Cached ⚡' indicator activates.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LOOKING 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Summary, Key Learnings &amp;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663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FFFFFF"/>
                </a:solidFill>
              </a:defRPr>
            </a:pPr>
            <a:r>
              <a:t>Week 1 Core Learnings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✔  Production Web Standards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Adopted Semantic HTML5, 1D Flexbox, and 2D Auto-responsive CSS Grid.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✔  Advanced JS &amp; Event Loop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Learned block scoping, immutability, Microtasks vs Macrotasks, and Promise concurrency.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✔  Event Delegation Architecture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Eliminated memory leaks using single parent container listeners with closest().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✔  Server-Side Node.js Runtime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Understood V8 engine, Libuv thread pool, and non-blocking fs/promises disk I/O.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42255" cy="484632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663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F59E0B"/>
                </a:solidFill>
              </a:defRPr>
            </a:pPr>
            <a:r>
              <a:t>Week 2: React Deep Dive Roadmap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🚀  Thinking in React &amp; JSX (Day 01)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Component hierarchies, JSX compilation rules, and Props vs State architecture.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🚀  Interactive State &amp; Hooks (Day 02)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useState mechanics, immutable state updates, and building a modular Tic-Tac-Toe game.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🚀  Effects &amp; Custom Hooks (Day 03)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useEffect lifecycle management, dependency arrays, cleanup functions, and custom API hooks.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🚀  Context API &amp; Mini-Project (Day 04)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Global state management without prop-drilling, culminating in a Multi-Theme Task Tracker.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