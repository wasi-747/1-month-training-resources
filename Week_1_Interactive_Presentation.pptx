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05840"/>
            <a:ext cx="3840480" cy="3200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5B4FC"/>
                </a:solidFill>
              </a:defRPr>
            </a:pPr>
            <a:r>
              <a:t>1-MONTH WEB DEVELOPMENT TRAINING • PRESENTATION #1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005840"/>
            <a:ext cx="2560320" cy="3200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COMPREHENSIVE WEEK 1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Modern Web Foundations &amp;</a:t>
            </a:r>
            <a:br/>
            <a:r>
              <a:t>Advanced JavaScript Architecture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Full Architecture Breakdown: Semantic Layouts, Git Team Workflows, Async Event Loop, DOM Delegation &amp; Node.js 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2377440" cy="34747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Day 1: UI &amp; 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931920"/>
            <a:ext cx="2377440" cy="34747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CD34D"/>
                </a:solidFill>
              </a:defRPr>
            </a:pPr>
            <a:r>
              <a:t>Day 2: Async JS &amp; Event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2377440" cy="34747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E7B7"/>
                </a:solidFill>
              </a:defRPr>
            </a:pPr>
            <a:r>
              <a:t>Day 3: DOM &amp; DevExplorer PRO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931920"/>
            <a:ext cx="2377440" cy="347472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5B4FC"/>
                </a:solidFill>
              </a:defRPr>
            </a:pPr>
            <a:r>
              <a:t>Day 4: Node.js &amp; 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572000"/>
            <a:ext cx="9997135" cy="11887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6634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CD34D"/>
                </a:solidFill>
              </a:defRPr>
            </a:pPr>
            <a:r>
              <a:t>🚀 FEATURED LIVE PROJECT DEMO: DevExplorer PRO v2.0 (GitHub Analytics &amp; Bookmark Manager)</a:t>
            </a:r>
          </a:p>
          <a:p>
            <a:pPr>
              <a:defRPr sz="1200">
                <a:solidFill>
                  <a:srgbClr val="67E8F9"/>
                </a:solidFill>
              </a:defRPr>
            </a:pPr>
            <a:r>
              <a:t>Parallel API Fetching via Promise.all() • Single-Pass .reduce() Statistics • LocalStorage JSON State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4 DAYS • 4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Week 1 Technical Curriculum &amp; Milestone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1097280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5B4FC"/>
                </a:solidFill>
              </a:defRPr>
            </a:pPr>
            <a:r>
              <a:t>Day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5B4FC"/>
                </a:solidFill>
              </a:defRPr>
            </a:pPr>
            <a:r>
              <a:t>Web Design &amp;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HTML5 Semantics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Replaced div soup with &lt;main&gt;, &lt;nav&gt;, &lt;article&gt; for SEO &amp; a11y.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Flexbox &amp; Grid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1D single-axis stacks vs 2D responsive matrix layouts.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Professional Git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Feature-branching &amp; Conventional Commits (feat:, fix:).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897880"/>
            <a:ext cx="22860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A5B4FC"/>
                </a:solidFill>
              </a:defRPr>
            </a:pPr>
            <a:r>
              <a:t>✔ Clean UI &amp; Branching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554480"/>
            <a:ext cx="256032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93592" y="1691640"/>
            <a:ext cx="1097280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7E8F9"/>
                </a:solidFill>
              </a:defRPr>
            </a:pPr>
            <a:r>
              <a:t>Day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7E8F9"/>
                </a:solidFill>
              </a:defRPr>
            </a:pPr>
            <a:r>
              <a:t>Advanced JS &amp;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23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ES6+ Immutability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Block scope, destructuring, spread operator, nullish coalescing.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383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Functional Pipelines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.map(), .filter(), and .reduce() 1-pass aggregate calculations.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4343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Event Loop &amp; Tasks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Call Stack, Microtask Queue (VIP Promises) vs Macrotasks.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93592" y="5897880"/>
            <a:ext cx="22860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7E8F9"/>
                </a:solidFill>
              </a:defRPr>
            </a:pPr>
            <a:r>
              <a:t>⚡ Event Loop Mastery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554480"/>
            <a:ext cx="256032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18504" y="1691640"/>
            <a:ext cx="1097280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CD34D"/>
                </a:solidFill>
              </a:defRPr>
            </a:pPr>
            <a:r>
              <a:t>Day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CD34D"/>
                </a:solidFill>
              </a:defRPr>
            </a:pPr>
            <a:r>
              <a:t>DOM &amp; Mini-Project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423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Event Delegation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1 single parent listener handles 50+ cards via closest().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383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LocalStorage API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Client state sync using JSON.stringify / parse.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343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DevExplorer PRO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Parallel API fetching via Promise.all() + skeleton loaders.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5897880"/>
            <a:ext cx="22860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CD34D"/>
                </a:solidFill>
              </a:defRPr>
            </a:pPr>
            <a:r>
              <a:t>🚀 Live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1554480"/>
            <a:ext cx="256032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43416" y="1691640"/>
            <a:ext cx="1097280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EE7B7"/>
                </a:solidFill>
              </a:defRPr>
            </a:pPr>
            <a:r>
              <a:t>Day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EE7B7"/>
                </a:solidFill>
              </a:defRPr>
            </a:pPr>
            <a:r>
              <a:t>Node.js &amp; FileSystem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2423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Server-Side V8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JavaScript outside browser with direct OS and file system access.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6" y="3383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fs/promises Module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Asynchronous, non-blocking disk I/O maintaining server speed.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416" y="43434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7E8F9"/>
                </a:solidFill>
              </a:defRPr>
            </a:pPr>
            <a:r>
              <a:t>• Path Resolution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Cross-platform path handling via path.join().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3416" y="5897880"/>
            <a:ext cx="22860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EE7B7"/>
                </a:solidFill>
              </a:defRPr>
            </a:pPr>
            <a:r>
              <a:t>🟢 Backend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5B4FC"/>
                </a:solidFill>
              </a:defRPr>
            </a:pPr>
            <a:r>
              <a:t>UI LAYOUTS &amp;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Day 01: Modern Web Design Standards &amp; Professional 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A5B4FC"/>
                </a:solidFill>
              </a:defRPr>
            </a:pPr>
            <a:r>
              <a:t>🎨 Architecture Standards &amp; Git Strategy</a:t>
            </a:r>
          </a:p>
          <a:p>
            <a:pPr>
              <a:spcAft>
                <a:spcPts val="200"/>
              </a:spcAft>
              <a:defRPr sz="1300" b="1">
                <a:solidFill>
                  <a:srgbClr val="67E8F9"/>
                </a:solidFill>
              </a:defRPr>
            </a:pPr>
            <a:r>
              <a:t>📌 Semantic HTML5 Hierarchy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Structure with &lt;header&gt;, &lt;nav&gt;, &lt;main&gt;, &lt;article&gt;, and &lt;footer&gt; instead of unindexed &lt;div&gt; soup to maximize SEO and accessibility.</a:t>
            </a:r>
          </a:p>
          <a:p>
            <a:pPr>
              <a:spcAft>
                <a:spcPts val="200"/>
              </a:spcAft>
              <a:defRPr sz="1300" b="1">
                <a:solidFill>
                  <a:srgbClr val="67E8F9"/>
                </a:solidFill>
              </a:defRPr>
            </a:pPr>
            <a:r>
              <a:t>📌 CSS Layout Engines (Flexbox vs Grid)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Flexbox for 1D single-axis alignment (navbars, toolbars) and CSS Grid for 2D auto-responsive matrices (repeat(auto-fit, minmax(280px, 1fr))).</a:t>
            </a:r>
          </a:p>
          <a:p>
            <a:pPr>
              <a:spcAft>
                <a:spcPts val="200"/>
              </a:spcAft>
              <a:defRPr sz="1300" b="1">
                <a:solidFill>
                  <a:srgbClr val="67E8F9"/>
                </a:solidFill>
              </a:defRPr>
            </a:pPr>
            <a:r>
              <a:t>📌 Feature-Branching &amp; Conventional Commits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Production main branch stays locked. Features developed in feature/task-name and merged via Pull Request with standard commit prefixes (feat:, fix:, docs:).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846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it_branch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ES6+ IMMUTABILITY &amp; ARRAY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Day 02: Advanced JavaScript Core &amp; Functional Data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7E8F9"/>
                </a:solidFill>
              </a:defRPr>
            </a:pPr>
            <a:r>
              <a:t>⚡ ES6+ Syntax &amp; Scope Integrity</a:t>
            </a:r>
          </a:p>
          <a:p>
            <a:pPr>
              <a:spcAft>
                <a:spcPts val="200"/>
              </a:spcAft>
              <a:defRPr sz="1300" b="1">
                <a:solidFill>
                  <a:srgbClr val="67E8F9"/>
                </a:solidFill>
              </a:defRPr>
            </a:pPr>
            <a:r>
              <a:t>⚡ Block Scoping (const / let)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Eliminated var hoisting hazards and global window pollution; immutable reference bindings.</a:t>
            </a:r>
          </a:p>
          <a:p>
            <a:pPr>
              <a:spcAft>
                <a:spcPts val="200"/>
              </a:spcAft>
              <a:defRPr sz="1300" b="1">
                <a:solidFill>
                  <a:srgbClr val="67E8F9"/>
                </a:solidFill>
              </a:defRPr>
            </a:pPr>
            <a:r>
              <a:t>⚡ Destructuring &amp; Spread Operator (...state)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Clean payload unpacking and non-destructive object/array cloning, preparing for React state immutability.</a:t>
            </a:r>
          </a:p>
          <a:p>
            <a:pPr>
              <a:spcAft>
                <a:spcPts val="200"/>
              </a:spcAft>
              <a:defRPr sz="1300" b="1">
                <a:solidFill>
                  <a:srgbClr val="67E8F9"/>
                </a:solidFill>
              </a:defRPr>
            </a:pPr>
            <a:r>
              <a:t>⚡ Nullish Coalescing (??) &amp; Optional Chaining (?.)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Safe nested property traversal without throwing runtime errors on null or undefined.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EE7B7"/>
                </a:solidFill>
              </a:defRPr>
            </a:pPr>
            <a:r>
              <a:t>📊 Immutable Data Transformations</a:t>
            </a:r>
          </a:p>
          <a:p>
            <a:pPr>
              <a:spcAft>
                <a:spcPts val="200"/>
              </a:spcAft>
              <a:defRPr sz="1300" b="1">
                <a:solidFill>
                  <a:srgbClr val="6EE7B7"/>
                </a:solidFill>
              </a:defRPr>
            </a:pPr>
            <a:r>
              <a:t>📊 .map() — 1-to-1 UI Transformation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Transforms raw GitHub repository objects into structured DOM presentation cards.</a:t>
            </a:r>
          </a:p>
          <a:p>
            <a:pPr>
              <a:spcAft>
                <a:spcPts val="200"/>
              </a:spcAft>
              <a:defRPr sz="1300" b="1">
                <a:solidFill>
                  <a:srgbClr val="6EE7B7"/>
                </a:solidFill>
              </a:defRPr>
            </a:pPr>
            <a:r>
              <a:t>📊 .filter() — Data Selection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Extracts active, non-forked public repositories matching user filter criteria.</a:t>
            </a:r>
          </a:p>
          <a:p>
            <a:pPr>
              <a:spcAft>
                <a:spcPts val="200"/>
              </a:spcAft>
              <a:defRPr sz="1300" b="1">
                <a:solidFill>
                  <a:srgbClr val="6EE7B7"/>
                </a:solidFill>
              </a:defRPr>
            </a:pPr>
            <a:r>
              <a:t>📊 .reduce() — Single-Pass Analytical Totals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Computes Total Stars, Fork count, and Language distribution simultaneously in 1 pass:</a:t>
            </a:r>
            <a:br/>
            <a:r>
              <a:t>const totalStars = repos.reduce((sum, r) =&gt; sum + r.stargazers_count, 0);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CD34D"/>
                </a:solidFill>
              </a:defRPr>
            </a:pPr>
            <a:r>
              <a:t>NON-BLOCKING EXECUTION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Day 02 (Deep Dive): The JavaScript Event Loop &amp; Async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CD34D"/>
                </a:solidFill>
              </a:defRPr>
            </a:pPr>
            <a:r>
              <a:t>🔄 Execution Stack &amp; Priority Queues</a:t>
            </a:r>
          </a:p>
          <a:p>
            <a:pPr>
              <a:spcAft>
                <a:spcPts val="200"/>
              </a:spcAft>
              <a:defRPr sz="1250" b="1">
                <a:solidFill>
                  <a:srgbClr val="FCD34D"/>
                </a:solidFill>
              </a:defRPr>
            </a:pPr>
            <a:r>
              <a:t>⚡ 1. Single-Threaded Call Stack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V8 engine executes synchronous code line-by-line (LIFO). Long I/O tasks are delegated to Web APIs.</a:t>
            </a:r>
          </a:p>
          <a:p>
            <a:pPr>
              <a:spcAft>
                <a:spcPts val="200"/>
              </a:spcAft>
              <a:defRPr sz="1250" b="1">
                <a:solidFill>
                  <a:srgbClr val="FCD34D"/>
                </a:solidFill>
              </a:defRPr>
            </a:pPr>
            <a:r>
              <a:t>⚡ 2. Microtask Queue (VIP Priority)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Promises (.then(), async/await) enter the microtask queue and run immediately after Call Stack clears.</a:t>
            </a:r>
          </a:p>
          <a:p>
            <a:pPr>
              <a:spcAft>
                <a:spcPts val="200"/>
              </a:spcAft>
              <a:defRPr sz="1250" b="1">
                <a:solidFill>
                  <a:srgbClr val="FCD34D"/>
                </a:solidFill>
              </a:defRPr>
            </a:pPr>
            <a:r>
              <a:t>⚡ 3. Macrotask Queue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setTimeout and I/O events wait until all pending microtasks are completely drained.</a:t>
            </a:r>
          </a:p>
          <a:p>
            <a:pPr>
              <a:spcAft>
                <a:spcPts val="200"/>
              </a:spcAft>
              <a:defRPr sz="1250" b="1">
                <a:solidFill>
                  <a:srgbClr val="FCD34D"/>
                </a:solidFill>
              </a:defRPr>
            </a:pPr>
            <a:r>
              <a:t>⚡ 4. Concurrent Promise.all()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Fetches User Profile + Repositories in parallel, slashing network latency by 50%.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846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ent_loo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E7B7"/>
                </a:solidFill>
              </a:defRPr>
            </a:pPr>
            <a:r>
              <a:t>EVENT BUBBLING &amp; LOCALSTORAGE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Day 03: DOM Event Architecture &amp; Memory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EE7B7"/>
                </a:solidFill>
              </a:defRPr>
            </a:pPr>
            <a:r>
              <a:t>🎯 Event Delegation &amp; State Persistence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🎯 Event Bubbling Principle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Browser click events automatically propagate upwards from target child elements to parent containers.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🎯 Single Listener Architecture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Attached 1 single event listener on the parent grid instead of 50+ individual button listeners. Eliminates memory leaks.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🎯 Dynamic Element Interception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event.target.closest('.bookmark-btn') reliably captures clicks even on nested SVG icons or text spans inside dynamic cards.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🎯 LocalStorage Persistence API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Client state serialized with JSON.stringify and retrieved via JSON.parse across page reloads.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846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m_deleg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7E8F9"/>
                </a:solidFill>
              </a:defRPr>
            </a:pPr>
            <a:r>
              <a:t>BACKEND RUNTIME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Day 04: Node.js Core, V8 Engine &amp; Asynchronous FileSystem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7E8F9"/>
                </a:solidFill>
              </a:defRPr>
            </a:pPr>
            <a:r>
              <a:t>🟢 Server-Side JavaScript &amp; fs/promises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🟢 Server-Side V8 + Libuv Architecture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JavaScript executing outside browser sandbox with multi-threaded C++ Libuv thread pool handling non-blocking OS I/O.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🟢 Module Systems (CommonJS vs ES Modules)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Standardized on require / module.exports vs modern ECMAScript import / export modules.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🟢 Non-Blocking fs/promises Module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Asynchronous disk I/O (readFile, writeFile) maintaining 100% server responsiveness without thread blocking.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🟢 Safe Cross-Platform Paths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path.join(__dirname, 'data.json') preventing OS separator conflicts (Windows \ vs POSIX /).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846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ode_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42956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CD34D"/>
                </a:solidFill>
              </a:defRPr>
            </a:pPr>
            <a:r>
              <a:t>PROJECT SHOWCASE &amp; LIVE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Live Demonstration: DevExplorer PRO v2.0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CD34D"/>
                </a:solidFill>
              </a:defRPr>
            </a:pPr>
            <a:r>
              <a:t>🚀 Core Feature Architecture</a:t>
            </a:r>
          </a:p>
          <a:p>
            <a:pPr>
              <a:spcAft>
                <a:spcPts val="100"/>
              </a:spcAft>
              <a:defRPr sz="1200" b="1">
                <a:solidFill>
                  <a:srgbClr val="FCD34D"/>
                </a:solidFill>
              </a:defRPr>
            </a:pPr>
            <a:r>
              <a:t>🚀 1. Parallel API Requests (Promise.all)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User profile and repository payloads fetched concurrently with shimmer skeleton feedback.</a:t>
            </a:r>
          </a:p>
          <a:p>
            <a:pPr>
              <a:spcAft>
                <a:spcPts val="100"/>
              </a:spcAft>
              <a:defRPr sz="1200" b="1">
                <a:solidFill>
                  <a:srgbClr val="FCD34D"/>
                </a:solidFill>
              </a:defRPr>
            </a:pPr>
            <a:r>
              <a:t>🚀 2. Real-Time Analytics Engine (.reduce)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Live calculation of Total Stars, Fork count, and dominant programming language in 1 single pass.</a:t>
            </a:r>
          </a:p>
          <a:p>
            <a:pPr>
              <a:spcAft>
                <a:spcPts val="100"/>
              </a:spcAft>
              <a:defRPr sz="1200" b="1">
                <a:solidFill>
                  <a:srgbClr val="FCD34D"/>
                </a:solidFill>
              </a:defRPr>
            </a:pPr>
            <a:r>
              <a:t>🚀 3. Event Delegation &amp; Quick Tag Cloud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1-click exploration of top developers (torvalds, gaearon, wasi-747) via single container listener.</a:t>
            </a:r>
          </a:p>
          <a:p>
            <a:pPr>
              <a:spcAft>
                <a:spcPts val="100"/>
              </a:spcAft>
              <a:defRPr sz="1200" b="1">
                <a:solidFill>
                  <a:srgbClr val="FCD34D"/>
                </a:solidFill>
              </a:defRPr>
            </a:pPr>
            <a:r>
              <a:t>🚀 4. LocalStorage Bookmark Persistence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Saved developer profiles stored client-side and dynamically rendered on page load.</a:t>
            </a:r>
          </a:p>
          <a:p>
            <a:pPr>
              <a:spcAft>
                <a:spcPts val="100"/>
              </a:spcAft>
              <a:defRPr sz="1200" b="1">
                <a:solidFill>
                  <a:srgbClr val="FCD34D"/>
                </a:solidFill>
              </a:defRPr>
            </a:pPr>
            <a:r>
              <a:t>🚀 5. Resilient UI States &amp; Error Boundaries</a:t>
            </a:r>
          </a:p>
          <a:p>
            <a:pPr>
              <a:spcAft>
                <a:spcPts val="600"/>
              </a:spcAft>
              <a:defRPr sz="1000">
                <a:solidFill>
                  <a:srgbClr val="CBD5E1"/>
                </a:solidFill>
              </a:defRPr>
            </a:pPr>
            <a:r>
              <a:t>Graceful rate-limit detection, custom 404 cards, and auto-dismissing toast notifications.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8463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vexplorer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876495" cy="30478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EE7B7"/>
                </a:solidFill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Summary &amp; Readiness for Week 2 (React Deep Dive)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28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EE7B7"/>
                </a:solidFill>
              </a:defRPr>
            </a:pPr>
            <a:r>
              <a:t>🏆 Week 1 Engineering Mastery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✔ Semantic &amp; Responsive Web Design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Mastered HTML5 hierarchy, CSS Grid auto-fit matrices, and Tailwind utility tokens.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✔ Professional Git Workflows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Protected main branch, atomic conventional commits, and clean Pull Request reviews.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✔ Asynchronous &amp; Event Loop Mastery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Deep comprehension of Call Stack, Microtasks vs Macrotasks, and parallel Promise pipelines.</a:t>
            </a:r>
          </a:p>
          <a:p>
            <a:pPr>
              <a:spcAft>
                <a:spcPts val="200"/>
              </a:spcAft>
              <a:defRPr sz="1250" b="1">
                <a:solidFill>
                  <a:srgbClr val="6EE7B7"/>
                </a:solidFill>
              </a:defRPr>
            </a:pPr>
            <a:r>
              <a:t>✔ Memory-Optimized DOM &amp; Node.js Core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Event delegation, LocalStorage state sync, and asynchronous FileSystem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4846320"/>
          </a:xfrm>
          <a:prstGeom prst="roundRect">
            <a:avLst/>
          </a:prstGeom>
          <a:solidFill>
            <a:srgbClr val="1620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67E8F9"/>
                </a:solidFill>
              </a:defRPr>
            </a:pPr>
            <a:r>
              <a:t>⚛️ Ready for Week 2: React Deep Dive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🚀 Declarative UI Mindset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Transitioning from imperative DOM manipulation to Declarative React Component States.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🚀 JSX &amp; Virtual DOM Architecture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Utilizing our ES6+ array pipelines (.map()) directly in JSX component trees.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🚀 State Synchronization &amp; Immutability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Managing state updates cleanly using spread operators (...state) without mutating original references.</a:t>
            </a:r>
          </a:p>
          <a:p>
            <a:pPr>
              <a:spcAft>
                <a:spcPts val="200"/>
              </a:spcAft>
              <a:defRPr sz="1250" b="1">
                <a:solidFill>
                  <a:srgbClr val="67E8F9"/>
                </a:solidFill>
              </a:defRPr>
            </a:pPr>
            <a:r>
              <a:t>🚀 Target Deliverable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</a:defRPr>
            </a:pPr>
            <a:r>
              <a:t>Interactive Tic-Tac-Toe App with Undo/Redo &amp; Time-Travel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