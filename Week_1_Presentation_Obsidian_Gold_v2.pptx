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1-MONTH FULL-STACK TRAINING • WEEK 1 REVIEW &amp; DEMO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Modern Web Foundations &amp;</a:t>
            </a:r>
            <a:br/>
            <a:r>
              <a:t>Advanced JavaScript Architecture</a:t>
            </a:r>
          </a:p>
          <a:p>
            <a:pPr>
              <a:spcAft>
                <a:spcPts val="2400"/>
              </a:spcAft>
              <a:defRPr sz="1500">
                <a:solidFill>
                  <a:srgbClr val="A1A1AA"/>
                </a:solidFill>
              </a:defRPr>
            </a:pPr>
            <a:r>
              <a:t>Comprehensive Architectural Walkthrough with Exact Code Snippets &amp; Line Numbers:</a:t>
            </a:r>
            <a:br/>
            <a:r>
              <a:t>Semantic HTML5, CSS Grid/Flexbox, Event Loop, Event Delegation, LocalStorage &amp; Node.js Core.</a:t>
            </a:r>
          </a:p>
          <a:p>
            <a:pPr>
              <a:spcAft>
                <a:spcPts val="800"/>
              </a:spcAft>
              <a:defRPr sz="1500" b="1">
                <a:solidFill>
                  <a:srgbClr val="FCD34D"/>
                </a:solidFill>
              </a:defRPr>
            </a:pPr>
            <a:r>
              <a:t>🚀 FEATURED LIVE MINI-PROJECT: DevExplorer PRO v2.0 (GitHub Analytics &amp; Bookmark Manager)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Presenter: Full-Stack Engineering Trainee  |  Date: August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WEEK 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Technical Curriculum &amp; 4-Day 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01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Web Design &amp; Git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HTML5 Semantics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Replaced &lt;div&gt; soup with &lt;main&gt;, &lt;nav&gt;, &lt;header&gt; for SEO &amp; a11y.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Flexbox &amp; CSS Grid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1D component alignment vs 2D responsive grid matrices.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Professional Git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Feature-branching (git checkout -b) &amp; Conventional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02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Advanced JS &amp; Async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ES6+ Architecture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Block scope (const/let), destructuring, and spread operator.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Array Pipelines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.map(), .filter(), and .reduce() 1-pass analytical totals.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Event Loop Engine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Call Stack execution, Microtask Queue vs Macrotasks.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03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DOM &amp; Mini-Project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Event Delegation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Single parent listener handles dynamic items via closest().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LocalStorage Sync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Client state persistence using JSON serialization.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DevExplorer PRO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Parallel API fetching via Promise.all() + live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600200"/>
            <a:ext cx="2286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DAY 04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Node.js &amp; FileSystem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V8 &amp; Libuv Engine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Server-side JavaScript runtime with direct OS access.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fs/promises Module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Non-blocking, asynchronous disk read &amp; write operations.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• Path Resolution</a:t>
            </a:r>
          </a:p>
          <a:p>
            <a:pPr>
              <a:spcAft>
                <a:spcPts val="1000"/>
              </a:spcAft>
              <a:defRPr sz="1050">
                <a:solidFill>
                  <a:srgbClr val="A1A1AA"/>
                </a:solidFill>
              </a:defRPr>
            </a:pPr>
            <a:r>
              <a:t>Cross-platform path handling via path.join().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01: Modern Web Standards &amp; Team Git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Architectural Decisions &amp; Standards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Semantic HTML5 Hierarchy (index.html: L30-L240)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Utilized &lt;header&gt;, &lt;nav&gt;, &lt;main&gt;, &lt;aside&gt;, &lt;article&gt;, and &lt;footer&gt;. Replaced generic div soup to maximize Google SEO and screen reader accessibility.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1D Flexbox vs 2D CSS Grid (styles.css)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Flexbox aligns 1D axes (.header-container, .quick-tags) with justify-content: space-between. CSS Grid powers 2D dashboard layouts.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The Golden Responsive Grid Formula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grid-template-columns: repeat(auto-fit, minmax(280px, 1fr)) creates automatic multi-column responsiveness without writing CSS media queries!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Professional Feature-Branching Git Workflow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All changes isolated in feature branches (git checkout -b) with Conventional Commits (feat:, fix:, docs:) before merging via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Production Snippet: HTML5, CSS Grid &amp; Git</a:t>
            </a:r>
          </a:p>
          <a:p>
            <a:pPr>
              <a:defRPr sz="1000">
                <a:solidFill>
                  <a:srgbClr val="34D399"/>
                </a:solidFill>
                <a:latin typeface="Consolas"/>
              </a:defRPr>
            </a:pPr>
            <a:r>
              <a:t>/* 1. CSS GRID: Golden Auto-Responsive Formula */</a:t>
            </a:r>
            <a:br/>
            <a:r>
              <a:t>.repos-grid {</a:t>
            </a:r>
            <a:br/>
            <a:r>
              <a:t>  display: grid;</a:t>
            </a:r>
            <a:br/>
            <a:r>
              <a:t>  grid-template-columns: repeat(auto-fit, minmax(280px, 1fr));</a:t>
            </a:r>
            <a:br/>
            <a:r>
              <a:t>  gap: 1.5rem;</a:t>
            </a:r>
            <a:br/>
            <a:r>
              <a:t>}</a:t>
            </a:r>
            <a:br/>
            <a:br/>
            <a:r>
              <a:t>/* 2. FLEXBOX: 1D Single-Axis Navbar */</a:t>
            </a:r>
            <a:br/>
            <a:r>
              <a:t>.header-container {</a:t>
            </a:r>
            <a:br/>
            <a:r>
              <a:t>  display: flex;</a:t>
            </a:r>
            <a:br/>
            <a:r>
              <a:t>  justify-content: space-between; /* Space logo &amp; tabs */</a:t>
            </a:r>
            <a:br/>
            <a:r>
              <a:t>  align-items: center;            /* Vertical center */</a:t>
            </a:r>
            <a:br/>
            <a:r>
              <a:t>}</a:t>
            </a:r>
            <a:br/>
            <a:br/>
            <a:r>
              <a:t># 3. Professional Git Team Workflow</a:t>
            </a:r>
            <a:br/>
            <a:r>
              <a:t>$ git checkout -b feature/dashboard-ui</a:t>
            </a:r>
            <a:br/>
            <a:r>
              <a:t>$ git add index.html styles.css</a:t>
            </a:r>
            <a:br/>
            <a:r>
              <a:t>$ git commit -m "feat: build semantic dashboard"</a:t>
            </a:r>
            <a:br/>
            <a:r>
              <a:t>$ git push -u origin feature/dashboard-ui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02 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02: Advanced JS Scope &amp; Event Loop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Memory, Scope &amp; Engine Concurrency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Block Scope &amp; TDZ (app.js: L162, L273)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const / let are confined strictly within enclosing {}. Accessing them before initialization throws ReferenceError (TDZ), eliminating var hoisting bugs.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Single-Threaded Call Stack LIFO (app.js: L206)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V8 executes synchronous functions line-by-line (Last-In, First-Out). Pushes renderProfileCard(), executes, pops it off, then pushes computeAnalytics().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Microtask VIP Queue (app.js: L181, L197)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Promise.all() and await res.json() resolve in the Microtask Queue with VIP priority, draining immediately when Call Stack clears before any Macrotask.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⚡  Macrotask Queue (app.js: L497)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setTimeout(() =&gt; toast.remove(), 3000) enters Macrotask queue, executing only after all pending microtasks are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📄 app.js: Engine Concurrency &amp; Scope</a:t>
            </a:r>
          </a:p>
          <a:p>
            <a:pPr>
              <a:defRPr sz="950">
                <a:solidFill>
                  <a:srgbClr val="FBBF24"/>
                </a:solidFill>
                <a:latin typeface="Consolas"/>
              </a:defRPr>
            </a:pPr>
            <a:r>
              <a:t>// 1. Block Scope &amp; TDZ (app.js: L162)</a:t>
            </a:r>
            <a:br/>
            <a:r>
              <a:t>const cleanUsername = username.toLowerCase();</a:t>
            </a:r>
            <a:br/>
            <a:r>
              <a:t>// Accessing cleanUsername before L162 = TDZ ReferenceError</a:t>
            </a:r>
            <a:br/>
            <a:br/>
            <a:r>
              <a:t>// 2. Microtask VIP Queue (app.js: L181)</a:t>
            </a:r>
            <a:br/>
            <a:r>
              <a:t>const [userRes, reposRes] = await Promise.all([</a:t>
            </a:r>
            <a:br/>
            <a:r>
              <a:t>  fetch(`https://api.github.com/users/${cleanUsername}`),</a:t>
            </a:r>
            <a:br/>
            <a:r>
              <a:t>  fetch(`https://api.github.com/users/${cleanUsername}/repos`)</a:t>
            </a:r>
            <a:br/>
            <a:r>
              <a:t>]); // Resolves with VIP priority in Microtask Queue!</a:t>
            </a:r>
            <a:br/>
            <a:br/>
            <a:r>
              <a:t>// 3. Single-Threaded Call Stack LIFO (app.js: L206)</a:t>
            </a:r>
            <a:br/>
            <a:r>
              <a:t>this.renderProfileCard(userData, false); // Stack Push -&gt; Pop</a:t>
            </a:r>
            <a:br/>
            <a:r>
              <a:t>this.computeAnalytics(reposData);        // Stack Push -&gt; Pop</a:t>
            </a:r>
            <a:br/>
            <a:br/>
            <a:r>
              <a:t>// 4. Macrotask Queue (app.js: L497)</a:t>
            </a:r>
            <a:br/>
            <a:r>
              <a:t>setTimeout(() =&gt; toast.remove(), 3000);  // Runs after Microtasks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Parallel API Fetching &amp;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Parallel Network Engine &amp; In-Memory Cache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In-Memory Map Cache (app.js: L23, L166)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ES6 Private Field #searchCache = new Map(). Checks if user was already fetched; re-renders in 0ms without hitting GitHub rate limits.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Promise.all Concurrent Fetching (app.js: L181)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Dispatches User Profile and Repositories endpoints simultaneously in parallel, cutting network latency by 50% compared to sequential awaits.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Stream Decoding (app.js: L197)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await userRes.json() decodes the raw incoming HTTP stream into live JavaScript objects.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Try / Catch Error Boundaries (app.js: L211)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Catches network dropouts and displays friendly UI alerts without crashing the runtime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166–203 (Parallel Fetch &amp; Cache)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// 1. Check In-Memory Map Cache (0ms Instant Load)</a:t>
            </a:r>
            <a:br/>
            <a:r>
              <a:t>if (this.#searchCache.has(cleanUsername)) {</a:t>
            </a:r>
            <a:br/>
            <a:r>
              <a:t>  const cached = this.#searchCache.get(cleanUsername);</a:t>
            </a:r>
            <a:br/>
            <a:r>
              <a:t>  this.renderProfileCard(cached.user, true);</a:t>
            </a:r>
            <a:br/>
            <a:r>
              <a:t>  return;</a:t>
            </a:r>
            <a:br/>
            <a:r>
              <a:t>}</a:t>
            </a:r>
            <a:br/>
            <a:br/>
            <a:r>
              <a:t>// 2. Parallel API Dispatch via Promise.all()</a:t>
            </a:r>
            <a:br/>
            <a:r>
              <a:t>const [userRes, reposRes] = await Promise.all([</a:t>
            </a:r>
            <a:br/>
            <a:r>
              <a:t>  fetch(`https://api.github.com/users/${username}`),</a:t>
            </a:r>
            <a:br/>
            <a:r>
              <a:t>  fetch(`https://api.github.com/users/${username}/repos?per_page=100`)</a:t>
            </a:r>
            <a:br/>
            <a:r>
              <a:t>]);</a:t>
            </a:r>
            <a:br/>
            <a:br/>
            <a:r>
              <a:t>// 3. Stream Parsing &amp; State Persistence</a:t>
            </a:r>
            <a:br/>
            <a:r>
              <a:t>const userData = await userRes.json();</a:t>
            </a:r>
            <a:br/>
            <a:r>
              <a:t>const reposData = reposRes.ok ? await reposRes.json() : [];</a:t>
            </a:r>
            <a:br/>
            <a:r>
              <a:t>this.#searchCache.set(cleanUsername, { user: userData, repos: reposData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DATA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Single-Pass Analytics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Higher-Order Analytical Aggregation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Total Stars in 1-Pass (app.js: L228)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repos.reduce((acc, repo) =&gt; acc + repo.stargazers_count, 0) aggregates total star counts across 100+ repositories in O(N) linear time.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Total Forks Aggregation (app.js: L232)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repos.reduce((acc, repo) =&gt; acc + repo.forks_count, 0) accumulates community fork metrics.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Top Language Frequency Map (app.js: L237)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.reduce() constructs a dynamic frequency dictionary: { JavaScript: 15, TypeScript: 8, Python: 3 } to determine developer specialty.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📊  Immutability &amp; Spread (app.js: L259, L273)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const languages = [...new Set(...)]; and let result = [...this.currentRepos] guarantee original API state is never mutated.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228–248 (computeAnalytics)</a:t>
            </a:r>
          </a:p>
          <a:p>
            <a:pPr>
              <a:defRPr sz="950">
                <a:solidFill>
                  <a:srgbClr val="FBBF24"/>
                </a:solidFill>
                <a:latin typeface="Consolas"/>
              </a:defRPr>
            </a:pPr>
            <a:r>
              <a:t>// 1. Total Stars Calculation (.reduce single-pass)</a:t>
            </a:r>
            <a:br/>
            <a:r>
              <a:t>const totalStars = repos.reduce((acc, repo) =&gt; </a:t>
            </a:r>
            <a:br/>
            <a:r>
              <a:t>  acc + (repo.stargazers_count || 0), 0</a:t>
            </a:r>
            <a:br/>
            <a:r>
              <a:t>);</a:t>
            </a:r>
            <a:br/>
            <a:r>
              <a:t>this.metricTotalStars.textContent = totalStars.toLocaleString();</a:t>
            </a:r>
            <a:br/>
            <a:br/>
            <a:r>
              <a:t>// 2. Language Frequency Map Generator (.reduce)</a:t>
            </a:r>
            <a:br/>
            <a:r>
              <a:t>const langCounts = repos.reduce((acc, repo) =&gt; {</a:t>
            </a:r>
            <a:br/>
            <a:r>
              <a:t>  if (repo.language) {</a:t>
            </a:r>
            <a:br/>
            <a:r>
              <a:t>    acc[repo.language] = (acc[repo.language] || 0) + 1;</a:t>
            </a:r>
            <a:br/>
            <a:r>
              <a:t>  }</a:t>
            </a:r>
            <a:br/>
            <a:r>
              <a:t>  return acc;</a:t>
            </a:r>
            <a:br/>
            <a:r>
              <a:t>}, {}); // Output: { JavaScript: 15, Python: 4 }</a:t>
            </a:r>
            <a:br/>
            <a:br/>
            <a:r>
              <a:t>// 3. Extract Dominant Language</a:t>
            </a:r>
            <a:br/>
            <a:r>
              <a:t>let topLang = 'JavaScript', maxCount = 0;</a:t>
            </a:r>
            <a:br/>
            <a:r>
              <a:t>for (const [lang, count] of Object.entries(langCounts)) {</a:t>
            </a:r>
            <a:br/>
            <a:r>
              <a:t>  if (count &gt; maxCount) { maxCount = count; topLang = lang;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DOM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Mini-Project: Event Delegation &amp; LocalStorage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Memory Efficiency &amp; Client Persistence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Single Container Listener (app.js: L102, L141)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Instead of binding 50+ listeners, attached 1 listener to #bookmarks-grid and #quick-tags-container. Prevents memory leaks.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Event Bubbling &amp; closest() (app.js: L104, L142)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Clicks bubble upwards; e.target.closest('.tag-btn') reliably extracts dataset.user even if user clicked inner icons or spans.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JSON Serialization Protocol (app.js: L505, L517)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localStorage only stores strings. Used JSON.stringify() to serialize array state, and JSON.parse() on load.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🎯  State Sync (.some &amp; Badges) (app.js: L406)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this.bookmarks.some() syncs Star bookmark toggle button and updates navbar badge counts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app.js: Lines 102–145, 505–523</a:t>
            </a:r>
          </a:p>
          <a:p>
            <a:pPr>
              <a:defRPr sz="950">
                <a:solidFill>
                  <a:srgbClr val="60A5FA"/>
                </a:solidFill>
                <a:latin typeface="Consolas"/>
              </a:defRPr>
            </a:pPr>
            <a:r>
              <a:t>// 1. Event Delegation on Parent Grid (app.js: L141)</a:t>
            </a:r>
            <a:br/>
            <a:r>
              <a:t>this.bookmarksGrid.addEventListener('click', (e) =&gt; {</a:t>
            </a:r>
            <a:br/>
            <a:r>
              <a:t>  const btnInspect = e.target.closest('.btn-inspect-dev');</a:t>
            </a:r>
            <a:br/>
            <a:r>
              <a:t>  const btnRemove = e.target.closest('.btn-remove-bookmark');</a:t>
            </a:r>
            <a:br/>
            <a:r>
              <a:t>  if (btnInspect) this.fetchDeveloperProfile(btnInspect.dataset.user);</a:t>
            </a:r>
            <a:br/>
            <a:r>
              <a:t>  if (btnRemove) this.removeBookmark(btnRemove.dataset.user);</a:t>
            </a:r>
            <a:br/>
            <a:r>
              <a:t>});</a:t>
            </a:r>
            <a:br/>
            <a:br/>
            <a:r>
              <a:t>// 2. LocalStorage Read Protocol (app.js: L505)</a:t>
            </a:r>
            <a:br/>
            <a:r>
              <a:t>#loadBookmarksFromStorage() {</a:t>
            </a:r>
            <a:br/>
            <a:r>
              <a:t>  const data = localStorage.getItem(this.#STORAGE_KEY);</a:t>
            </a:r>
            <a:br/>
            <a:r>
              <a:t>  return data ? JSON.parse(data) : []; // String -&gt; Array</a:t>
            </a:r>
            <a:br/>
            <a:r>
              <a:t>}</a:t>
            </a:r>
            <a:br/>
            <a:br/>
            <a:r>
              <a:t>// 3. LocalStorage Write Protocol (app.js: L517)</a:t>
            </a:r>
            <a:br/>
            <a:r>
              <a:t>#saveBookmarksToStorage() {</a:t>
            </a:r>
            <a:br/>
            <a:r>
              <a:t>  localStorage.setItem(this.#STORAGE_KEY, JSON.stringify(this.bookmarks));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DAY 04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Day 04: Node.js V8 Runtime &amp; Asynchronous FileSystem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Server-Side V8 &amp; Non-Blocking FileSystem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V8 Runtime + Libuv C++ Layer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Chrome V8 translates JS to machine code while multi-threaded Libuv executes background disk I/O without blocking server traffic.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Non-Blocking fs/promises Module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Replaced synchronous fs.readFileSync with await fs.readFile / fs.writeFile. Keeps main Event Loop 100% responsive.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Cross-Platform path.join(__dirname, ...)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Normalizes path separators (Windows backslash vs POSIX forward slash) preventing production deployment path crashes.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🟢  Backend Analytics Logging Pipeline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Automated Node.js script reads, aggregates, and persists DevExplorer telemetry snapshots to disk asynchronously.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📄 Node.js: practice-snippets.js (fs/promises)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const fs = require('fs/promises');</a:t>
            </a:r>
            <a:br/>
            <a:r>
              <a:t>const path = require('path');</a:t>
            </a:r>
            <a:br/>
            <a:br/>
            <a:r>
              <a:t>async function saveAnalyticsLog(analyticsData) {</a:t>
            </a:r>
            <a:br/>
            <a:r>
              <a:t>  try {</a:t>
            </a:r>
            <a:br/>
            <a:r>
              <a:t>    // 1. Cross-Platform Safe Path</a:t>
            </a:r>
            <a:br/>
            <a:r>
              <a:t>    const logPath = path.join(__dirname, 'logs', 'analytics.json');</a:t>
            </a:r>
            <a:br/>
            <a:br/>
            <a:r>
              <a:t>    // 2. Non-Blocking Asynchronous Disk Write</a:t>
            </a:r>
            <a:br/>
            <a:r>
              <a:t>    await fs.writeFile(logPath, JSON.stringify(analyticsData, null, 2));</a:t>
            </a:r>
            <a:br/>
            <a:r>
              <a:t>    console.log('✔ Non-blocking write completed!');</a:t>
            </a:r>
            <a:br/>
            <a:br/>
            <a:r>
              <a:t>    // 3. Asynchronous Non-Blocking Disk Read</a:t>
            </a:r>
            <a:br/>
            <a:r>
              <a:t>    const raw = await fs.readFile(logPath, 'utf-8');</a:t>
            </a:r>
            <a:br/>
            <a:r>
              <a:t>    return JSON.parse(raw);</a:t>
            </a:r>
            <a:br/>
            <a:r>
              <a:t>  } catch (err) {</a:t>
            </a:r>
            <a:br/>
            <a:r>
              <a:t>    console.error('Disk I/O Error:', err.message);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Live Demonstration Walkthrough &amp;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1: Search Trigger  (app.js: L94)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Type 'torvalds' or click popular developer tags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Promise.all concurrent API fetch executes; Network tab shows parallel user &amp; repo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2: Analytics Cards  (app.js: L228)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Inspect Total Stars, Forks &amp; Language badges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.reduce() aggregates 100+ repos into single total numbers in 1 linear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3: Live Filters  (app.js: L273)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Type keywords in filter box &amp; select language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Spread operator maintains immutability while .filter() updates grid without reloading.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632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80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4: Bookmark &amp; Storage  (app.js: L369)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Click 'Save to Bookmarks' &amp; inspect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JSON.stringify saves to localStorage; badge count updates; toast animates via setTimeout.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5: Event Delegation  (app.js: L141)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Click 'Inspect' or 'Remove' in Bookmarks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1 single parent listener intercepts clicks via event.target.closest(). Zero memory leaks!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63440"/>
            <a:ext cx="52578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54879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Step 6: Cache Verification  (app.js: L166)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Action: Search 'torvalds' again in Explorer tab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Under the Hood: In-Memory Map cache loads profile in 0ms instant speed; 'Cached ⚡' indicator activates.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Summary, Key Learnings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Week 1 Core Learnings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Production Web Standards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Adopted Semantic HTML5, 1D Flexbox, and 2D Auto-responsive CSS Grid.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Advanced JS &amp; Event Loop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Learned block scoping, immutability, Microtasks vs Macrotasks, and Promise concurrency.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Event Delegation Architecture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Eliminated memory leaks using single parent container listeners with closest().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✔  Server-Side Node.js Runtime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Understood V8 engine, Libuv thread pool, and non-blocking fs/promises disk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59E0B"/>
                </a:solidFill>
              </a:defRPr>
            </a:pPr>
            <a:r>
              <a:t>Week 2: React Deep Dive Roadmap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Thinking in React &amp; JSX (Day 01)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Component hierarchies, JSX compilation rules, and Props vs State architecture.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Interactive State &amp; Hooks (Day 02)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useState mechanics, immutable state updates, and building a modular Tic-Tac-Toe game.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Effects &amp; Custom Hooks (Day 03)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useEffect lifecycle management, dependency arrays, cleanup functions, and custom API hooks.</a:t>
            </a:r>
          </a:p>
          <a:p>
            <a:pPr>
              <a:spcAft>
                <a:spcPts val="200"/>
              </a:spcAft>
              <a:defRPr sz="1200" b="1">
                <a:solidFill>
                  <a:srgbClr val="FCD34D"/>
                </a:solidFill>
              </a:defRPr>
            </a:pPr>
            <a:r>
              <a:t>🚀  Context API &amp; Mini-Project (Day 04)</a:t>
            </a:r>
          </a:p>
          <a:p>
            <a:pPr>
              <a:spcAft>
                <a:spcPts val="1000"/>
              </a:spcAft>
              <a:defRPr sz="1050">
                <a:solidFill>
                  <a:srgbClr val="E4E4E7"/>
                </a:solidFill>
              </a:defRPr>
            </a:pPr>
            <a:r>
              <a:t>Global state management without prop-drilling, culminating in a Multi-Theme Task Tracker.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